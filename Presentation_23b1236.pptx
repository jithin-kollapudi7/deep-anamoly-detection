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embeddedFontLst>
    <p:embeddedFont>
      <p:font typeface="Consolas" panose="020B0609020204030204" pitchFamily="49" charset="0"/>
      <p:regular r:id="rId38"/>
      <p:bold r:id="rId39"/>
      <p:italic r:id="rId40"/>
      <p:boldItalic r:id="rId41"/>
    </p:embeddedFont>
    <p:embeddedFont>
      <p:font typeface="Constantia" panose="02030602050306030303" pitchFamily="18" charset="0"/>
      <p:regular r:id="rId42"/>
      <p:bold r:id="rId43"/>
      <p:italic r:id="rId44"/>
      <p:boldItalic r:id="rId45"/>
    </p:embeddedFont>
    <p:embeddedFont>
      <p:font typeface="Helvetica Neue" panose="020B060402020202020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EAC42-10DE-2FC5-A572-027613F7EF75}" v="83" dt="2026-01-30T19:08:57.971"/>
    <p1510:client id="{7E9F77D0-5C0C-99AF-DA05-6CE2C5FDF7EF}" v="91" dt="2026-01-30T19:13:44.7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899d3abee_2_38:notes"/>
          <p:cNvSpPr txBox="1">
            <a:spLocks noGrp="1"/>
          </p:cNvSpPr>
          <p:nvPr>
            <p:ph type="sldNum" idx="12"/>
          </p:nvPr>
        </p:nvSpPr>
        <p:spPr>
          <a:xfrm>
            <a:off x="3884414" y="8685893"/>
            <a:ext cx="2972098" cy="456595"/>
          </a:xfrm>
          <a:prstGeom prst="rect">
            <a:avLst/>
          </a:prstGeom>
          <a:noFill/>
          <a:ln>
            <a:noFill/>
          </a:ln>
        </p:spPr>
        <p:txBody>
          <a:bodyPr spcFirstLastPara="1" wrap="square" lIns="91100" tIns="45550" rIns="91100" bIns="45550" anchor="b" anchorCtr="0">
            <a:noAutofit/>
          </a:bodyPr>
          <a:lstStyle/>
          <a:p>
            <a:pPr marL="0" lvl="0" indent="0" algn="r" rtl="0">
              <a:lnSpc>
                <a:spcPct val="100000"/>
              </a:lnSpc>
              <a:spcBef>
                <a:spcPts val="0"/>
              </a:spcBef>
              <a:spcAft>
                <a:spcPts val="0"/>
              </a:spcAft>
              <a:buSzPts val="1300"/>
              <a:buNone/>
            </a:pPr>
            <a:fld id="{00000000-1234-1234-1234-123412341234}" type="slidenum">
              <a:rPr lang="en" sz="1300"/>
              <a:t>1</a:t>
            </a:fld>
            <a:endParaRPr sz="1300"/>
          </a:p>
        </p:txBody>
      </p:sp>
      <p:sp>
        <p:nvSpPr>
          <p:cNvPr id="90" name="Google Shape;90;g31899d3abee_2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g31899d3abee_2_38: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0"/>
              </a:spcBef>
              <a:spcAft>
                <a:spcPts val="0"/>
              </a:spcAft>
              <a:buSzPts val="1300"/>
              <a:buNone/>
            </a:pPr>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512cf64959_0_1: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97" name="Google Shape;97;g3512cf64959_0_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3f187c8cf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3f187c8cf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3f187c8cf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3f187c8cf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189c908d72_2_0: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15" name="Google Shape;115;g3189c908d72_2_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53f187c8cf_1_15: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21" name="Google Shape;121;g353f187c8cf_1_15: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3f187c8cf_1_20: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27" name="Google Shape;127;g353f187c8cf_1_2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1899d3abee_2_55: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33" name="Google Shape;133;g31899d3abee_2_55: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1899d3abee_2_60: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39" name="Google Shape;139;g31899d3abee_2_60:notes"/>
          <p:cNvSpPr>
            <a:spLocks noGrp="1" noRot="1" noChangeAspect="1"/>
          </p:cNvSpPr>
          <p:nvPr>
            <p:ph type="sldImg" idx="2"/>
          </p:nvPr>
        </p:nvSpPr>
        <p:spPr>
          <a:xfrm>
            <a:off x="428625" y="686405"/>
            <a:ext cx="6000750" cy="342914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535b066601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535b06660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1899d3abee_2_65: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52" name="Google Shape;152;g31899d3abee_2_65:notes"/>
          <p:cNvSpPr>
            <a:spLocks noGrp="1" noRot="1" noChangeAspect="1"/>
          </p:cNvSpPr>
          <p:nvPr>
            <p:ph type="sldImg" idx="2"/>
          </p:nvPr>
        </p:nvSpPr>
        <p:spPr>
          <a:xfrm>
            <a:off x="428625" y="686405"/>
            <a:ext cx="6000750" cy="342914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53f187c8cf_1_90: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58" name="Google Shape;158;g353f187c8cf_1_9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53f187c8cf_1_95: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65" name="Google Shape;165;g353f187c8cf_1_95: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3f187c8cf_1_56: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71" name="Google Shape;171;g353f187c8cf_1_56: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535b066601_0_0: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77" name="Google Shape;177;g3535b066601_0_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53f187c8cf_1_39: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85" name="Google Shape;185;g353f187c8cf_1_39: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535b066601_0_7: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91" name="Google Shape;191;g3535b066601_0_7: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53f187c8cf_1_44: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99" name="Google Shape;199;g353f187c8cf_1_44: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53f187c8cf_1_61: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05" name="Google Shape;205;g353f187c8cf_1_6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53f187c8cf_1_73: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13" name="Google Shape;213;g353f187c8cf_1_73: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35b066601_0_19: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19" name="Google Shape;219;g3535b066601_0_19: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512cf64959_0_19: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27" name="Google Shape;227;g3512cf64959_0_19: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1899d3abee_2_75: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35" name="Google Shape;235;g31899d3abee_2_75: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535b066601_0_36: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41" name="Google Shape;241;g3535b066601_0_36: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535b066601_0_41: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a:p>
            <a:pPr marL="0" lvl="0" indent="0" algn="l" rtl="0">
              <a:lnSpc>
                <a:spcPct val="100000"/>
              </a:lnSpc>
              <a:spcBef>
                <a:spcPts val="300"/>
              </a:spcBef>
              <a:spcAft>
                <a:spcPts val="0"/>
              </a:spcAft>
              <a:buSzPts val="1300"/>
              <a:buNone/>
            </a:pPr>
            <a:endParaRPr sz="1300"/>
          </a:p>
          <a:p>
            <a:pPr marL="0" lvl="0" indent="0" algn="l" rtl="0">
              <a:lnSpc>
                <a:spcPct val="100000"/>
              </a:lnSpc>
              <a:spcBef>
                <a:spcPts val="300"/>
              </a:spcBef>
              <a:spcAft>
                <a:spcPts val="0"/>
              </a:spcAft>
              <a:buSzPts val="1300"/>
              <a:buNone/>
            </a:pPr>
            <a:endParaRPr sz="1300"/>
          </a:p>
          <a:p>
            <a:pPr marL="0" lvl="0" indent="0" algn="l" rtl="0">
              <a:lnSpc>
                <a:spcPct val="100000"/>
              </a:lnSpc>
              <a:spcBef>
                <a:spcPts val="300"/>
              </a:spcBef>
              <a:spcAft>
                <a:spcPts val="0"/>
              </a:spcAft>
              <a:buSzPts val="1300"/>
              <a:buNone/>
            </a:pPr>
            <a:endParaRPr sz="1300"/>
          </a:p>
        </p:txBody>
      </p:sp>
      <p:sp>
        <p:nvSpPr>
          <p:cNvPr id="247" name="Google Shape;247;g3535b066601_0_4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535b066601_2_1: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a:p>
            <a:pPr marL="0" lvl="0" indent="0" algn="l" rtl="0">
              <a:lnSpc>
                <a:spcPct val="100000"/>
              </a:lnSpc>
              <a:spcBef>
                <a:spcPts val="300"/>
              </a:spcBef>
              <a:spcAft>
                <a:spcPts val="0"/>
              </a:spcAft>
              <a:buSzPts val="1300"/>
              <a:buNone/>
            </a:pPr>
            <a:endParaRPr sz="1300"/>
          </a:p>
          <a:p>
            <a:pPr marL="0" lvl="0" indent="0" algn="l" rtl="0">
              <a:lnSpc>
                <a:spcPct val="100000"/>
              </a:lnSpc>
              <a:spcBef>
                <a:spcPts val="300"/>
              </a:spcBef>
              <a:spcAft>
                <a:spcPts val="0"/>
              </a:spcAft>
              <a:buSzPts val="1300"/>
              <a:buNone/>
            </a:pPr>
            <a:endParaRPr sz="1300"/>
          </a:p>
          <a:p>
            <a:pPr marL="0" lvl="0" indent="0" algn="l" rtl="0">
              <a:lnSpc>
                <a:spcPct val="100000"/>
              </a:lnSpc>
              <a:spcBef>
                <a:spcPts val="300"/>
              </a:spcBef>
              <a:spcAft>
                <a:spcPts val="0"/>
              </a:spcAft>
              <a:buSzPts val="1300"/>
              <a:buNone/>
            </a:pPr>
            <a:endParaRPr sz="1300"/>
          </a:p>
        </p:txBody>
      </p:sp>
      <p:sp>
        <p:nvSpPr>
          <p:cNvPr id="253" name="Google Shape;253;g3535b066601_2_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535b066601_2_12: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60" name="Google Shape;260;g3535b066601_2_12: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535b066601_2_17: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66" name="Google Shape;266;g3535b066601_2_17: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535b066601_2_22: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72" name="Google Shape;272;g3535b066601_2_22: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1899d3abee_2_79: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78" name="Google Shape;278;g31899d3abee_2_79: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535b066601_0_61: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84" name="Google Shape;284;g3535b066601_0_6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899d3abee_2_84: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90" name="Google Shape;290;g31899d3abee_2_84:notes"/>
          <p:cNvSpPr>
            <a:spLocks noGrp="1" noRot="1" noChangeAspect="1"/>
          </p:cNvSpPr>
          <p:nvPr>
            <p:ph type="sldImg" idx="2"/>
          </p:nvPr>
        </p:nvSpPr>
        <p:spPr>
          <a:xfrm>
            <a:off x="428625" y="686405"/>
            <a:ext cx="6000750" cy="342914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535b066601_0_48: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96" name="Google Shape;296;g3535b066601_0_48: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1899d3abee_2_93: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302" name="Google Shape;302;g31899d3abee_2_93: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512cf64959_0_29: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15000"/>
              </a:lnSpc>
              <a:spcBef>
                <a:spcPts val="1000"/>
              </a:spcBef>
              <a:spcAft>
                <a:spcPts val="0"/>
              </a:spcAft>
              <a:buNone/>
            </a:pPr>
            <a:endParaRPr sz="2500">
              <a:solidFill>
                <a:srgbClr val="0000FF"/>
              </a:solidFill>
              <a:highlight>
                <a:schemeClr val="lt1"/>
              </a:highlight>
              <a:latin typeface="Helvetica Neue"/>
              <a:ea typeface="Helvetica Neue"/>
              <a:cs typeface="Helvetica Neue"/>
              <a:sym typeface="Helvetica Neue"/>
            </a:endParaRPr>
          </a:p>
          <a:p>
            <a:pPr marL="457200" lvl="0" indent="-387350" algn="l" rtl="0">
              <a:lnSpc>
                <a:spcPct val="115000"/>
              </a:lnSpc>
              <a:spcBef>
                <a:spcPts val="1000"/>
              </a:spcBef>
              <a:spcAft>
                <a:spcPts val="0"/>
              </a:spcAft>
              <a:buClr>
                <a:srgbClr val="0000FF"/>
              </a:buClr>
              <a:buSzPts val="2500"/>
              <a:buFont typeface="Helvetica Neue"/>
              <a:buChar char="•"/>
            </a:pPr>
            <a:r>
              <a:rPr lang="en" sz="2500">
                <a:solidFill>
                  <a:srgbClr val="0000FF"/>
                </a:solidFill>
                <a:highlight>
                  <a:schemeClr val="lt1"/>
                </a:highlight>
                <a:latin typeface="Helvetica Neue"/>
                <a:ea typeface="Helvetica Neue"/>
                <a:cs typeface="Helvetica Neue"/>
                <a:sym typeface="Helvetica Neue"/>
              </a:rPr>
              <a:t>Main conclusion or insight.</a:t>
            </a:r>
            <a:endParaRPr sz="2500">
              <a:solidFill>
                <a:srgbClr val="0000FF"/>
              </a:solidFill>
              <a:highlight>
                <a:schemeClr val="lt1"/>
              </a:highlight>
              <a:latin typeface="Helvetica Neue"/>
              <a:ea typeface="Helvetica Neue"/>
              <a:cs typeface="Helvetica Neue"/>
              <a:sym typeface="Helvetica Neue"/>
            </a:endParaRPr>
          </a:p>
          <a:p>
            <a:pPr marL="457200" lvl="0" indent="-387350" algn="l" rtl="0">
              <a:lnSpc>
                <a:spcPct val="115000"/>
              </a:lnSpc>
              <a:spcBef>
                <a:spcPts val="0"/>
              </a:spcBef>
              <a:spcAft>
                <a:spcPts val="0"/>
              </a:spcAft>
              <a:buClr>
                <a:srgbClr val="0000FF"/>
              </a:buClr>
              <a:buSzPts val="2500"/>
              <a:buFont typeface="Helvetica Neue"/>
              <a:buChar char="•"/>
            </a:pPr>
            <a:r>
              <a:rPr lang="en" sz="2500">
                <a:solidFill>
                  <a:srgbClr val="0000FF"/>
                </a:solidFill>
                <a:highlight>
                  <a:schemeClr val="lt1"/>
                </a:highlight>
                <a:latin typeface="Helvetica Neue"/>
                <a:ea typeface="Helvetica Neue"/>
                <a:cs typeface="Helvetica Neue"/>
                <a:sym typeface="Helvetica Neue"/>
              </a:rPr>
              <a:t>Any potential future work or open challenges</a:t>
            </a:r>
            <a:endParaRPr sz="1300"/>
          </a:p>
        </p:txBody>
      </p:sp>
      <p:sp>
        <p:nvSpPr>
          <p:cNvPr id="308" name="Google Shape;308;g3512cf64959_0_29: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3"/>
        <p:cNvGrpSpPr/>
        <p:nvPr/>
      </p:nvGrpSpPr>
      <p:grpSpPr>
        <a:xfrm>
          <a:off x="0" y="0"/>
          <a:ext cx="0" cy="0"/>
          <a:chOff x="0" y="0"/>
          <a:chExt cx="0" cy="0"/>
        </a:xfrm>
      </p:grpSpPr>
      <p:sp>
        <p:nvSpPr>
          <p:cNvPr id="54" name="Google Shape;54;p14"/>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14"/>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rgbClr val="0000FF"/>
              </a:buClr>
              <a:buSzPts val="2400"/>
              <a:buFont typeface="Arial"/>
              <a:buNone/>
              <a:defRPr/>
            </a:lvl1pPr>
            <a:lvl2pPr lvl="1" algn="ctr">
              <a:lnSpc>
                <a:spcPct val="100000"/>
              </a:lnSpc>
              <a:spcBef>
                <a:spcPts val="480"/>
              </a:spcBef>
              <a:spcAft>
                <a:spcPts val="0"/>
              </a:spcAft>
              <a:buClr>
                <a:srgbClr val="0000FF"/>
              </a:buClr>
              <a:buSzPts val="2400"/>
              <a:buFont typeface="Arial"/>
              <a:buNone/>
              <a:defRPr/>
            </a:lvl2pPr>
            <a:lvl3pPr lvl="2" algn="ctr">
              <a:lnSpc>
                <a:spcPct val="100000"/>
              </a:lnSpc>
              <a:spcBef>
                <a:spcPts val="480"/>
              </a:spcBef>
              <a:spcAft>
                <a:spcPts val="0"/>
              </a:spcAft>
              <a:buClr>
                <a:srgbClr val="0000FF"/>
              </a:buClr>
              <a:buSzPts val="2400"/>
              <a:buFont typeface="Arial"/>
              <a:buNone/>
              <a:defRPr/>
            </a:lvl3pPr>
            <a:lvl4pPr lvl="3" algn="ctr">
              <a:lnSpc>
                <a:spcPct val="100000"/>
              </a:lnSpc>
              <a:spcBef>
                <a:spcPts val="480"/>
              </a:spcBef>
              <a:spcAft>
                <a:spcPts val="0"/>
              </a:spcAft>
              <a:buClr>
                <a:srgbClr val="0000FF"/>
              </a:buClr>
              <a:buSzPts val="2400"/>
              <a:buFont typeface="Arial"/>
              <a:buNone/>
              <a:defRPr/>
            </a:lvl4pPr>
            <a:lvl5pPr lvl="4" algn="ctr">
              <a:lnSpc>
                <a:spcPct val="100000"/>
              </a:lnSpc>
              <a:spcBef>
                <a:spcPts val="480"/>
              </a:spcBef>
              <a:spcAft>
                <a:spcPts val="0"/>
              </a:spcAft>
              <a:buClr>
                <a:srgbClr val="0000FF"/>
              </a:buClr>
              <a:buSzPts val="2400"/>
              <a:buFont typeface="Arial"/>
              <a:buNone/>
              <a:defRPr/>
            </a:lvl5pPr>
            <a:lvl6pPr lvl="5" algn="ctr">
              <a:lnSpc>
                <a:spcPct val="100000"/>
              </a:lnSpc>
              <a:spcBef>
                <a:spcPts val="480"/>
              </a:spcBef>
              <a:spcAft>
                <a:spcPts val="0"/>
              </a:spcAft>
              <a:buClr>
                <a:srgbClr val="0000FF"/>
              </a:buClr>
              <a:buSzPts val="2400"/>
              <a:buFont typeface="Arial"/>
              <a:buNone/>
              <a:defRPr/>
            </a:lvl6pPr>
            <a:lvl7pPr lvl="6" algn="ctr">
              <a:lnSpc>
                <a:spcPct val="100000"/>
              </a:lnSpc>
              <a:spcBef>
                <a:spcPts val="480"/>
              </a:spcBef>
              <a:spcAft>
                <a:spcPts val="0"/>
              </a:spcAft>
              <a:buClr>
                <a:srgbClr val="0000FF"/>
              </a:buClr>
              <a:buSzPts val="2400"/>
              <a:buFont typeface="Arial"/>
              <a:buNone/>
              <a:defRPr/>
            </a:lvl7pPr>
            <a:lvl8pPr lvl="7" algn="ctr">
              <a:lnSpc>
                <a:spcPct val="100000"/>
              </a:lnSpc>
              <a:spcBef>
                <a:spcPts val="480"/>
              </a:spcBef>
              <a:spcAft>
                <a:spcPts val="0"/>
              </a:spcAft>
              <a:buClr>
                <a:srgbClr val="0000FF"/>
              </a:buClr>
              <a:buSzPts val="2400"/>
              <a:buFont typeface="Arial"/>
              <a:buNone/>
              <a:defRPr/>
            </a:lvl8pPr>
            <a:lvl9pPr lvl="8" algn="ctr">
              <a:lnSpc>
                <a:spcPct val="100000"/>
              </a:lnSpc>
              <a:spcBef>
                <a:spcPts val="480"/>
              </a:spcBef>
              <a:spcAft>
                <a:spcPts val="0"/>
              </a:spcAft>
              <a:buClr>
                <a:srgbClr val="0000FF"/>
              </a:buClr>
              <a:buSzPts val="2400"/>
              <a:buFont typeface="Arial"/>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SzPts val="2400"/>
              <a:buChar char="•"/>
              <a:defRPr/>
            </a:lvl1pPr>
            <a:lvl2pPr marL="914400" lvl="1" indent="-381000" algn="l">
              <a:lnSpc>
                <a:spcPct val="100000"/>
              </a:lnSpc>
              <a:spcBef>
                <a:spcPts val="480"/>
              </a:spcBef>
              <a:spcAft>
                <a:spcPts val="0"/>
              </a:spcAft>
              <a:buSzPts val="2400"/>
              <a:buChar char="–"/>
              <a:defRPr/>
            </a:lvl2pPr>
            <a:lvl3pPr marL="1371600" lvl="2" indent="-381000" algn="l">
              <a:lnSpc>
                <a:spcPct val="100000"/>
              </a:lnSpc>
              <a:spcBef>
                <a:spcPts val="480"/>
              </a:spcBef>
              <a:spcAft>
                <a:spcPts val="0"/>
              </a:spcAft>
              <a:buSzPts val="2400"/>
              <a:buChar char="•"/>
              <a:defRPr/>
            </a:lvl3pPr>
            <a:lvl4pPr marL="1828800" lvl="3" indent="-381000" algn="l">
              <a:lnSpc>
                <a:spcPct val="100000"/>
              </a:lnSpc>
              <a:spcBef>
                <a:spcPts val="480"/>
              </a:spcBef>
              <a:spcAft>
                <a:spcPts val="0"/>
              </a:spcAft>
              <a:buSzPts val="2400"/>
              <a:buChar char="–"/>
              <a:defRPr/>
            </a:lvl4pPr>
            <a:lvl5pPr marL="2286000" lvl="4" indent="-381000" algn="l">
              <a:lnSpc>
                <a:spcPct val="100000"/>
              </a:lnSpc>
              <a:spcBef>
                <a:spcPts val="480"/>
              </a:spcBef>
              <a:spcAft>
                <a:spcPts val="0"/>
              </a:spcAft>
              <a:buSzPts val="2400"/>
              <a:buChar char="»"/>
              <a:defRPr/>
            </a:lvl5pPr>
            <a:lvl6pPr marL="2743200" lvl="5" indent="-381000" algn="l">
              <a:lnSpc>
                <a:spcPct val="100000"/>
              </a:lnSpc>
              <a:spcBef>
                <a:spcPts val="480"/>
              </a:spcBef>
              <a:spcAft>
                <a:spcPts val="0"/>
              </a:spcAft>
              <a:buSzPts val="2400"/>
              <a:buChar char="»"/>
              <a:defRPr/>
            </a:lvl6pPr>
            <a:lvl7pPr marL="3200400" lvl="6" indent="-381000" algn="l">
              <a:lnSpc>
                <a:spcPct val="100000"/>
              </a:lnSpc>
              <a:spcBef>
                <a:spcPts val="480"/>
              </a:spcBef>
              <a:spcAft>
                <a:spcPts val="0"/>
              </a:spcAft>
              <a:buSzPts val="2400"/>
              <a:buChar char="»"/>
              <a:defRPr/>
            </a:lvl7pPr>
            <a:lvl8pPr marL="3657600" lvl="7" indent="-381000" algn="l">
              <a:lnSpc>
                <a:spcPct val="100000"/>
              </a:lnSpc>
              <a:spcBef>
                <a:spcPts val="480"/>
              </a:spcBef>
              <a:spcAft>
                <a:spcPts val="0"/>
              </a:spcAft>
              <a:buSzPts val="2400"/>
              <a:buChar char="»"/>
              <a:defRPr/>
            </a:lvl8pPr>
            <a:lvl9pPr marL="4114800" lvl="8" indent="-381000" algn="l">
              <a:lnSpc>
                <a:spcPct val="100000"/>
              </a:lnSpc>
              <a:spcBef>
                <a:spcPts val="480"/>
              </a:spcBef>
              <a:spcAft>
                <a:spcPts val="0"/>
              </a:spcAft>
              <a:buSzPts val="2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Table" type="tbl">
  <p:cSld name="TABLE">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17"/>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0000FF"/>
              </a:buClr>
              <a:buSzPts val="2000"/>
              <a:buFont typeface="Arial"/>
              <a:buNone/>
              <a:defRPr sz="2000"/>
            </a:lvl1pPr>
            <a:lvl2pPr marL="914400" lvl="1" indent="-228600" algn="l">
              <a:lnSpc>
                <a:spcPct val="100000"/>
              </a:lnSpc>
              <a:spcBef>
                <a:spcPts val="360"/>
              </a:spcBef>
              <a:spcAft>
                <a:spcPts val="0"/>
              </a:spcAft>
              <a:buClr>
                <a:srgbClr val="0000FF"/>
              </a:buClr>
              <a:buSzPts val="1800"/>
              <a:buFont typeface="Arial"/>
              <a:buNone/>
              <a:defRPr sz="1800"/>
            </a:lvl2pPr>
            <a:lvl3pPr marL="1371600" lvl="2" indent="-228600" algn="l">
              <a:lnSpc>
                <a:spcPct val="100000"/>
              </a:lnSpc>
              <a:spcBef>
                <a:spcPts val="320"/>
              </a:spcBef>
              <a:spcAft>
                <a:spcPts val="0"/>
              </a:spcAft>
              <a:buClr>
                <a:srgbClr val="0000FF"/>
              </a:buClr>
              <a:buSzPts val="1600"/>
              <a:buFont typeface="Arial"/>
              <a:buNone/>
              <a:defRPr sz="1600"/>
            </a:lvl3pPr>
            <a:lvl4pPr marL="1828800" lvl="3" indent="-228600" algn="l">
              <a:lnSpc>
                <a:spcPct val="100000"/>
              </a:lnSpc>
              <a:spcBef>
                <a:spcPts val="280"/>
              </a:spcBef>
              <a:spcAft>
                <a:spcPts val="0"/>
              </a:spcAft>
              <a:buClr>
                <a:srgbClr val="0000FF"/>
              </a:buClr>
              <a:buSzPts val="1400"/>
              <a:buFont typeface="Arial"/>
              <a:buNone/>
              <a:defRPr sz="1400"/>
            </a:lvl4pPr>
            <a:lvl5pPr marL="2286000" lvl="4" indent="-228600" algn="l">
              <a:lnSpc>
                <a:spcPct val="100000"/>
              </a:lnSpc>
              <a:spcBef>
                <a:spcPts val="280"/>
              </a:spcBef>
              <a:spcAft>
                <a:spcPts val="0"/>
              </a:spcAft>
              <a:buClr>
                <a:srgbClr val="0000FF"/>
              </a:buClr>
              <a:buSzPts val="1400"/>
              <a:buFont typeface="Arial"/>
              <a:buNone/>
              <a:defRPr sz="1400"/>
            </a:lvl5pPr>
            <a:lvl6pPr marL="2743200" lvl="5" indent="-228600" algn="l">
              <a:lnSpc>
                <a:spcPct val="100000"/>
              </a:lnSpc>
              <a:spcBef>
                <a:spcPts val="280"/>
              </a:spcBef>
              <a:spcAft>
                <a:spcPts val="0"/>
              </a:spcAft>
              <a:buClr>
                <a:srgbClr val="0000FF"/>
              </a:buClr>
              <a:buSzPts val="1400"/>
              <a:buFont typeface="Arial"/>
              <a:buNone/>
              <a:defRPr sz="1400"/>
            </a:lvl6pPr>
            <a:lvl7pPr marL="3200400" lvl="6" indent="-228600" algn="l">
              <a:lnSpc>
                <a:spcPct val="100000"/>
              </a:lnSpc>
              <a:spcBef>
                <a:spcPts val="280"/>
              </a:spcBef>
              <a:spcAft>
                <a:spcPts val="0"/>
              </a:spcAft>
              <a:buClr>
                <a:srgbClr val="0000FF"/>
              </a:buClr>
              <a:buSzPts val="1400"/>
              <a:buFont typeface="Arial"/>
              <a:buNone/>
              <a:defRPr sz="1400"/>
            </a:lvl7pPr>
            <a:lvl8pPr marL="3657600" lvl="7" indent="-228600" algn="l">
              <a:lnSpc>
                <a:spcPct val="100000"/>
              </a:lnSpc>
              <a:spcBef>
                <a:spcPts val="280"/>
              </a:spcBef>
              <a:spcAft>
                <a:spcPts val="0"/>
              </a:spcAft>
              <a:buClr>
                <a:srgbClr val="0000FF"/>
              </a:buClr>
              <a:buSzPts val="1400"/>
              <a:buFont typeface="Arial"/>
              <a:buNone/>
              <a:defRPr sz="1400"/>
            </a:lvl8pPr>
            <a:lvl9pPr marL="4114800" lvl="8" indent="-228600" algn="l">
              <a:lnSpc>
                <a:spcPct val="100000"/>
              </a:lnSpc>
              <a:spcBef>
                <a:spcPts val="280"/>
              </a:spcBef>
              <a:spcAft>
                <a:spcPts val="0"/>
              </a:spcAft>
              <a:buClr>
                <a:srgbClr val="0000FF"/>
              </a:buClr>
              <a:buSzPts val="1400"/>
              <a:buFont typeface="Arial"/>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6" name="Google Shape;66;p18"/>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0000FF"/>
              </a:buClr>
              <a:buSzPts val="2400"/>
              <a:buFont typeface="Arial"/>
              <a:buNone/>
              <a:defRPr sz="2400" b="1"/>
            </a:lvl1pPr>
            <a:lvl2pPr marL="914400" lvl="1" indent="-228600" algn="l">
              <a:lnSpc>
                <a:spcPct val="100000"/>
              </a:lnSpc>
              <a:spcBef>
                <a:spcPts val="400"/>
              </a:spcBef>
              <a:spcAft>
                <a:spcPts val="0"/>
              </a:spcAft>
              <a:buClr>
                <a:srgbClr val="0000FF"/>
              </a:buClr>
              <a:buSzPts val="2000"/>
              <a:buFont typeface="Arial"/>
              <a:buNone/>
              <a:defRPr sz="2000" b="1"/>
            </a:lvl2pPr>
            <a:lvl3pPr marL="1371600" lvl="2" indent="-228600" algn="l">
              <a:lnSpc>
                <a:spcPct val="100000"/>
              </a:lnSpc>
              <a:spcBef>
                <a:spcPts val="360"/>
              </a:spcBef>
              <a:spcAft>
                <a:spcPts val="0"/>
              </a:spcAft>
              <a:buClr>
                <a:srgbClr val="0000FF"/>
              </a:buClr>
              <a:buSzPts val="1800"/>
              <a:buFont typeface="Arial"/>
              <a:buNone/>
              <a:defRPr sz="1800" b="1"/>
            </a:lvl3pPr>
            <a:lvl4pPr marL="1828800" lvl="3" indent="-228600" algn="l">
              <a:lnSpc>
                <a:spcPct val="100000"/>
              </a:lnSpc>
              <a:spcBef>
                <a:spcPts val="320"/>
              </a:spcBef>
              <a:spcAft>
                <a:spcPts val="0"/>
              </a:spcAft>
              <a:buClr>
                <a:srgbClr val="0000FF"/>
              </a:buClr>
              <a:buSzPts val="1600"/>
              <a:buFont typeface="Arial"/>
              <a:buNone/>
              <a:defRPr sz="1600" b="1"/>
            </a:lvl4pPr>
            <a:lvl5pPr marL="2286000" lvl="4" indent="-228600" algn="l">
              <a:lnSpc>
                <a:spcPct val="100000"/>
              </a:lnSpc>
              <a:spcBef>
                <a:spcPts val="320"/>
              </a:spcBef>
              <a:spcAft>
                <a:spcPts val="0"/>
              </a:spcAft>
              <a:buClr>
                <a:srgbClr val="0000FF"/>
              </a:buClr>
              <a:buSzPts val="1600"/>
              <a:buFont typeface="Arial"/>
              <a:buNone/>
              <a:defRPr sz="1600" b="1"/>
            </a:lvl5pPr>
            <a:lvl6pPr marL="2743200" lvl="5" indent="-228600" algn="l">
              <a:lnSpc>
                <a:spcPct val="100000"/>
              </a:lnSpc>
              <a:spcBef>
                <a:spcPts val="320"/>
              </a:spcBef>
              <a:spcAft>
                <a:spcPts val="0"/>
              </a:spcAft>
              <a:buClr>
                <a:srgbClr val="0000FF"/>
              </a:buClr>
              <a:buSzPts val="1600"/>
              <a:buFont typeface="Arial"/>
              <a:buNone/>
              <a:defRPr sz="1600" b="1"/>
            </a:lvl6pPr>
            <a:lvl7pPr marL="3200400" lvl="6" indent="-228600" algn="l">
              <a:lnSpc>
                <a:spcPct val="100000"/>
              </a:lnSpc>
              <a:spcBef>
                <a:spcPts val="320"/>
              </a:spcBef>
              <a:spcAft>
                <a:spcPts val="0"/>
              </a:spcAft>
              <a:buClr>
                <a:srgbClr val="0000FF"/>
              </a:buClr>
              <a:buSzPts val="1600"/>
              <a:buFont typeface="Arial"/>
              <a:buNone/>
              <a:defRPr sz="1600" b="1"/>
            </a:lvl7pPr>
            <a:lvl8pPr marL="3657600" lvl="7" indent="-228600" algn="l">
              <a:lnSpc>
                <a:spcPct val="100000"/>
              </a:lnSpc>
              <a:spcBef>
                <a:spcPts val="320"/>
              </a:spcBef>
              <a:spcAft>
                <a:spcPts val="0"/>
              </a:spcAft>
              <a:buClr>
                <a:srgbClr val="0000FF"/>
              </a:buClr>
              <a:buSzPts val="1600"/>
              <a:buFont typeface="Arial"/>
              <a:buNone/>
              <a:defRPr sz="1600" b="1"/>
            </a:lvl8pPr>
            <a:lvl9pPr marL="4114800" lvl="8" indent="-228600" algn="l">
              <a:lnSpc>
                <a:spcPct val="100000"/>
              </a:lnSpc>
              <a:spcBef>
                <a:spcPts val="320"/>
              </a:spcBef>
              <a:spcAft>
                <a:spcPts val="0"/>
              </a:spcAft>
              <a:buClr>
                <a:srgbClr val="0000FF"/>
              </a:buClr>
              <a:buSzPts val="1600"/>
              <a:buFont typeface="Arial"/>
              <a:buNone/>
              <a:defRPr sz="1600" b="1"/>
            </a:lvl9pPr>
          </a:lstStyle>
          <a:p>
            <a:endParaRPr/>
          </a:p>
        </p:txBody>
      </p:sp>
      <p:sp>
        <p:nvSpPr>
          <p:cNvPr id="67" name="Google Shape;67;p18"/>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rgbClr val="0000FF"/>
              </a:buClr>
              <a:buSzPts val="2400"/>
              <a:buFont typeface="Arial"/>
              <a:buChar char="•"/>
              <a:defRPr sz="2400"/>
            </a:lvl1pPr>
            <a:lvl2pPr marL="914400" lvl="1" indent="-355600" algn="l">
              <a:lnSpc>
                <a:spcPct val="100000"/>
              </a:lnSpc>
              <a:spcBef>
                <a:spcPts val="400"/>
              </a:spcBef>
              <a:spcAft>
                <a:spcPts val="0"/>
              </a:spcAft>
              <a:buClr>
                <a:srgbClr val="0000FF"/>
              </a:buClr>
              <a:buSzPts val="2000"/>
              <a:buFont typeface="Arial"/>
              <a:buChar char="–"/>
              <a:defRPr sz="2000"/>
            </a:lvl2pPr>
            <a:lvl3pPr marL="1371600" lvl="2" indent="-342900" algn="l">
              <a:lnSpc>
                <a:spcPct val="100000"/>
              </a:lnSpc>
              <a:spcBef>
                <a:spcPts val="360"/>
              </a:spcBef>
              <a:spcAft>
                <a:spcPts val="0"/>
              </a:spcAft>
              <a:buClr>
                <a:srgbClr val="0000FF"/>
              </a:buClr>
              <a:buSzPts val="1800"/>
              <a:buFont typeface="Arial"/>
              <a:buChar char="•"/>
              <a:defRPr sz="1800"/>
            </a:lvl3pPr>
            <a:lvl4pPr marL="1828800" lvl="3" indent="-330200" algn="l">
              <a:lnSpc>
                <a:spcPct val="100000"/>
              </a:lnSpc>
              <a:spcBef>
                <a:spcPts val="320"/>
              </a:spcBef>
              <a:spcAft>
                <a:spcPts val="0"/>
              </a:spcAft>
              <a:buClr>
                <a:srgbClr val="0000FF"/>
              </a:buClr>
              <a:buSzPts val="1600"/>
              <a:buFont typeface="Arial"/>
              <a:buChar char="–"/>
              <a:defRPr sz="1600"/>
            </a:lvl4pPr>
            <a:lvl5pPr marL="2286000" lvl="4" indent="-330200" algn="l">
              <a:lnSpc>
                <a:spcPct val="100000"/>
              </a:lnSpc>
              <a:spcBef>
                <a:spcPts val="320"/>
              </a:spcBef>
              <a:spcAft>
                <a:spcPts val="0"/>
              </a:spcAft>
              <a:buClr>
                <a:srgbClr val="0000FF"/>
              </a:buClr>
              <a:buSzPts val="1600"/>
              <a:buFont typeface="Arial"/>
              <a:buChar char="»"/>
              <a:defRPr sz="1600"/>
            </a:lvl5pPr>
            <a:lvl6pPr marL="2743200" lvl="5" indent="-330200" algn="l">
              <a:lnSpc>
                <a:spcPct val="100000"/>
              </a:lnSpc>
              <a:spcBef>
                <a:spcPts val="320"/>
              </a:spcBef>
              <a:spcAft>
                <a:spcPts val="0"/>
              </a:spcAft>
              <a:buClr>
                <a:srgbClr val="0000FF"/>
              </a:buClr>
              <a:buSzPts val="1600"/>
              <a:buFont typeface="Arial"/>
              <a:buChar char="»"/>
              <a:defRPr sz="1600"/>
            </a:lvl6pPr>
            <a:lvl7pPr marL="3200400" lvl="6" indent="-330200" algn="l">
              <a:lnSpc>
                <a:spcPct val="100000"/>
              </a:lnSpc>
              <a:spcBef>
                <a:spcPts val="320"/>
              </a:spcBef>
              <a:spcAft>
                <a:spcPts val="0"/>
              </a:spcAft>
              <a:buClr>
                <a:srgbClr val="0000FF"/>
              </a:buClr>
              <a:buSzPts val="1600"/>
              <a:buFont typeface="Arial"/>
              <a:buChar char="»"/>
              <a:defRPr sz="1600"/>
            </a:lvl7pPr>
            <a:lvl8pPr marL="3657600" lvl="7" indent="-330200" algn="l">
              <a:lnSpc>
                <a:spcPct val="100000"/>
              </a:lnSpc>
              <a:spcBef>
                <a:spcPts val="320"/>
              </a:spcBef>
              <a:spcAft>
                <a:spcPts val="0"/>
              </a:spcAft>
              <a:buClr>
                <a:srgbClr val="0000FF"/>
              </a:buClr>
              <a:buSzPts val="1600"/>
              <a:buFont typeface="Arial"/>
              <a:buChar char="»"/>
              <a:defRPr sz="1600"/>
            </a:lvl8pPr>
            <a:lvl9pPr marL="4114800" lvl="8" indent="-330200" algn="l">
              <a:lnSpc>
                <a:spcPct val="100000"/>
              </a:lnSpc>
              <a:spcBef>
                <a:spcPts val="320"/>
              </a:spcBef>
              <a:spcAft>
                <a:spcPts val="0"/>
              </a:spcAft>
              <a:buClr>
                <a:srgbClr val="0000FF"/>
              </a:buClr>
              <a:buSzPts val="1600"/>
              <a:buFont typeface="Arial"/>
              <a:buChar char="»"/>
              <a:defRPr sz="1600"/>
            </a:lvl9pPr>
          </a:lstStyle>
          <a:p>
            <a:endParaRPr/>
          </a:p>
        </p:txBody>
      </p:sp>
      <p:sp>
        <p:nvSpPr>
          <p:cNvPr id="68" name="Google Shape;68;p18"/>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0000FF"/>
              </a:buClr>
              <a:buSzPts val="2400"/>
              <a:buFont typeface="Arial"/>
              <a:buNone/>
              <a:defRPr sz="2400" b="1"/>
            </a:lvl1pPr>
            <a:lvl2pPr marL="914400" lvl="1" indent="-228600" algn="l">
              <a:lnSpc>
                <a:spcPct val="100000"/>
              </a:lnSpc>
              <a:spcBef>
                <a:spcPts val="400"/>
              </a:spcBef>
              <a:spcAft>
                <a:spcPts val="0"/>
              </a:spcAft>
              <a:buClr>
                <a:srgbClr val="0000FF"/>
              </a:buClr>
              <a:buSzPts val="2000"/>
              <a:buFont typeface="Arial"/>
              <a:buNone/>
              <a:defRPr sz="2000" b="1"/>
            </a:lvl2pPr>
            <a:lvl3pPr marL="1371600" lvl="2" indent="-228600" algn="l">
              <a:lnSpc>
                <a:spcPct val="100000"/>
              </a:lnSpc>
              <a:spcBef>
                <a:spcPts val="360"/>
              </a:spcBef>
              <a:spcAft>
                <a:spcPts val="0"/>
              </a:spcAft>
              <a:buClr>
                <a:srgbClr val="0000FF"/>
              </a:buClr>
              <a:buSzPts val="1800"/>
              <a:buFont typeface="Arial"/>
              <a:buNone/>
              <a:defRPr sz="1800" b="1"/>
            </a:lvl3pPr>
            <a:lvl4pPr marL="1828800" lvl="3" indent="-228600" algn="l">
              <a:lnSpc>
                <a:spcPct val="100000"/>
              </a:lnSpc>
              <a:spcBef>
                <a:spcPts val="320"/>
              </a:spcBef>
              <a:spcAft>
                <a:spcPts val="0"/>
              </a:spcAft>
              <a:buClr>
                <a:srgbClr val="0000FF"/>
              </a:buClr>
              <a:buSzPts val="1600"/>
              <a:buFont typeface="Arial"/>
              <a:buNone/>
              <a:defRPr sz="1600" b="1"/>
            </a:lvl4pPr>
            <a:lvl5pPr marL="2286000" lvl="4" indent="-228600" algn="l">
              <a:lnSpc>
                <a:spcPct val="100000"/>
              </a:lnSpc>
              <a:spcBef>
                <a:spcPts val="320"/>
              </a:spcBef>
              <a:spcAft>
                <a:spcPts val="0"/>
              </a:spcAft>
              <a:buClr>
                <a:srgbClr val="0000FF"/>
              </a:buClr>
              <a:buSzPts val="1600"/>
              <a:buFont typeface="Arial"/>
              <a:buNone/>
              <a:defRPr sz="1600" b="1"/>
            </a:lvl5pPr>
            <a:lvl6pPr marL="2743200" lvl="5" indent="-228600" algn="l">
              <a:lnSpc>
                <a:spcPct val="100000"/>
              </a:lnSpc>
              <a:spcBef>
                <a:spcPts val="320"/>
              </a:spcBef>
              <a:spcAft>
                <a:spcPts val="0"/>
              </a:spcAft>
              <a:buClr>
                <a:srgbClr val="0000FF"/>
              </a:buClr>
              <a:buSzPts val="1600"/>
              <a:buFont typeface="Arial"/>
              <a:buNone/>
              <a:defRPr sz="1600" b="1"/>
            </a:lvl6pPr>
            <a:lvl7pPr marL="3200400" lvl="6" indent="-228600" algn="l">
              <a:lnSpc>
                <a:spcPct val="100000"/>
              </a:lnSpc>
              <a:spcBef>
                <a:spcPts val="320"/>
              </a:spcBef>
              <a:spcAft>
                <a:spcPts val="0"/>
              </a:spcAft>
              <a:buClr>
                <a:srgbClr val="0000FF"/>
              </a:buClr>
              <a:buSzPts val="1600"/>
              <a:buFont typeface="Arial"/>
              <a:buNone/>
              <a:defRPr sz="1600" b="1"/>
            </a:lvl7pPr>
            <a:lvl8pPr marL="3657600" lvl="7" indent="-228600" algn="l">
              <a:lnSpc>
                <a:spcPct val="100000"/>
              </a:lnSpc>
              <a:spcBef>
                <a:spcPts val="320"/>
              </a:spcBef>
              <a:spcAft>
                <a:spcPts val="0"/>
              </a:spcAft>
              <a:buClr>
                <a:srgbClr val="0000FF"/>
              </a:buClr>
              <a:buSzPts val="1600"/>
              <a:buFont typeface="Arial"/>
              <a:buNone/>
              <a:defRPr sz="1600" b="1"/>
            </a:lvl8pPr>
            <a:lvl9pPr marL="4114800" lvl="8" indent="-228600" algn="l">
              <a:lnSpc>
                <a:spcPct val="100000"/>
              </a:lnSpc>
              <a:spcBef>
                <a:spcPts val="320"/>
              </a:spcBef>
              <a:spcAft>
                <a:spcPts val="0"/>
              </a:spcAft>
              <a:buClr>
                <a:srgbClr val="0000FF"/>
              </a:buClr>
              <a:buSzPts val="1600"/>
              <a:buFont typeface="Arial"/>
              <a:buNone/>
              <a:defRPr sz="1600" b="1"/>
            </a:lvl9pPr>
          </a:lstStyle>
          <a:p>
            <a:endParaRPr/>
          </a:p>
        </p:txBody>
      </p:sp>
      <p:sp>
        <p:nvSpPr>
          <p:cNvPr id="69" name="Google Shape;69;p18"/>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rgbClr val="0000FF"/>
              </a:buClr>
              <a:buSzPts val="2400"/>
              <a:buFont typeface="Arial"/>
              <a:buChar char="•"/>
              <a:defRPr sz="2400"/>
            </a:lvl1pPr>
            <a:lvl2pPr marL="914400" lvl="1" indent="-355600" algn="l">
              <a:lnSpc>
                <a:spcPct val="100000"/>
              </a:lnSpc>
              <a:spcBef>
                <a:spcPts val="400"/>
              </a:spcBef>
              <a:spcAft>
                <a:spcPts val="0"/>
              </a:spcAft>
              <a:buClr>
                <a:srgbClr val="0000FF"/>
              </a:buClr>
              <a:buSzPts val="2000"/>
              <a:buFont typeface="Arial"/>
              <a:buChar char="–"/>
              <a:defRPr sz="2000"/>
            </a:lvl2pPr>
            <a:lvl3pPr marL="1371600" lvl="2" indent="-342900" algn="l">
              <a:lnSpc>
                <a:spcPct val="100000"/>
              </a:lnSpc>
              <a:spcBef>
                <a:spcPts val="360"/>
              </a:spcBef>
              <a:spcAft>
                <a:spcPts val="0"/>
              </a:spcAft>
              <a:buClr>
                <a:srgbClr val="0000FF"/>
              </a:buClr>
              <a:buSzPts val="1800"/>
              <a:buFont typeface="Arial"/>
              <a:buChar char="•"/>
              <a:defRPr sz="1800"/>
            </a:lvl3pPr>
            <a:lvl4pPr marL="1828800" lvl="3" indent="-330200" algn="l">
              <a:lnSpc>
                <a:spcPct val="100000"/>
              </a:lnSpc>
              <a:spcBef>
                <a:spcPts val="320"/>
              </a:spcBef>
              <a:spcAft>
                <a:spcPts val="0"/>
              </a:spcAft>
              <a:buClr>
                <a:srgbClr val="0000FF"/>
              </a:buClr>
              <a:buSzPts val="1600"/>
              <a:buFont typeface="Arial"/>
              <a:buChar char="–"/>
              <a:defRPr sz="1600"/>
            </a:lvl4pPr>
            <a:lvl5pPr marL="2286000" lvl="4" indent="-330200" algn="l">
              <a:lnSpc>
                <a:spcPct val="100000"/>
              </a:lnSpc>
              <a:spcBef>
                <a:spcPts val="320"/>
              </a:spcBef>
              <a:spcAft>
                <a:spcPts val="0"/>
              </a:spcAft>
              <a:buClr>
                <a:srgbClr val="0000FF"/>
              </a:buClr>
              <a:buSzPts val="1600"/>
              <a:buFont typeface="Arial"/>
              <a:buChar char="»"/>
              <a:defRPr sz="1600"/>
            </a:lvl5pPr>
            <a:lvl6pPr marL="2743200" lvl="5" indent="-330200" algn="l">
              <a:lnSpc>
                <a:spcPct val="100000"/>
              </a:lnSpc>
              <a:spcBef>
                <a:spcPts val="320"/>
              </a:spcBef>
              <a:spcAft>
                <a:spcPts val="0"/>
              </a:spcAft>
              <a:buClr>
                <a:srgbClr val="0000FF"/>
              </a:buClr>
              <a:buSzPts val="1600"/>
              <a:buFont typeface="Arial"/>
              <a:buChar char="»"/>
              <a:defRPr sz="1600"/>
            </a:lvl6pPr>
            <a:lvl7pPr marL="3200400" lvl="6" indent="-330200" algn="l">
              <a:lnSpc>
                <a:spcPct val="100000"/>
              </a:lnSpc>
              <a:spcBef>
                <a:spcPts val="320"/>
              </a:spcBef>
              <a:spcAft>
                <a:spcPts val="0"/>
              </a:spcAft>
              <a:buClr>
                <a:srgbClr val="0000FF"/>
              </a:buClr>
              <a:buSzPts val="1600"/>
              <a:buFont typeface="Arial"/>
              <a:buChar char="»"/>
              <a:defRPr sz="1600"/>
            </a:lvl7pPr>
            <a:lvl8pPr marL="3657600" lvl="7" indent="-330200" algn="l">
              <a:lnSpc>
                <a:spcPct val="100000"/>
              </a:lnSpc>
              <a:spcBef>
                <a:spcPts val="320"/>
              </a:spcBef>
              <a:spcAft>
                <a:spcPts val="0"/>
              </a:spcAft>
              <a:buClr>
                <a:srgbClr val="0000FF"/>
              </a:buClr>
              <a:buSzPts val="1600"/>
              <a:buFont typeface="Arial"/>
              <a:buChar char="»"/>
              <a:defRPr sz="1600"/>
            </a:lvl8pPr>
            <a:lvl9pPr marL="4114800" lvl="8" indent="-330200" algn="l">
              <a:lnSpc>
                <a:spcPct val="100000"/>
              </a:lnSpc>
              <a:spcBef>
                <a:spcPts val="320"/>
              </a:spcBef>
              <a:spcAft>
                <a:spcPts val="0"/>
              </a:spcAft>
              <a:buClr>
                <a:srgbClr val="0000FF"/>
              </a:buClr>
              <a:buSzPts val="1600"/>
              <a:buFont typeface="Arial"/>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457200" y="204788"/>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2" name="Google Shape;72;p19"/>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rgbClr val="0000FF"/>
              </a:buClr>
              <a:buSzPts val="3200"/>
              <a:buFont typeface="Arial"/>
              <a:buChar char="•"/>
              <a:defRPr sz="3200"/>
            </a:lvl1pPr>
            <a:lvl2pPr marL="914400" lvl="1" indent="-406400" algn="l">
              <a:lnSpc>
                <a:spcPct val="100000"/>
              </a:lnSpc>
              <a:spcBef>
                <a:spcPts val="560"/>
              </a:spcBef>
              <a:spcAft>
                <a:spcPts val="0"/>
              </a:spcAft>
              <a:buClr>
                <a:srgbClr val="0000FF"/>
              </a:buClr>
              <a:buSzPts val="2800"/>
              <a:buFont typeface="Arial"/>
              <a:buChar char="–"/>
              <a:defRPr sz="2800"/>
            </a:lvl2pPr>
            <a:lvl3pPr marL="1371600" lvl="2" indent="-381000" algn="l">
              <a:lnSpc>
                <a:spcPct val="100000"/>
              </a:lnSpc>
              <a:spcBef>
                <a:spcPts val="480"/>
              </a:spcBef>
              <a:spcAft>
                <a:spcPts val="0"/>
              </a:spcAft>
              <a:buClr>
                <a:srgbClr val="0000FF"/>
              </a:buClr>
              <a:buSzPts val="2400"/>
              <a:buFont typeface="Arial"/>
              <a:buChar char="•"/>
              <a:defRPr sz="2400"/>
            </a:lvl3pPr>
            <a:lvl4pPr marL="1828800" lvl="3" indent="-355600" algn="l">
              <a:lnSpc>
                <a:spcPct val="100000"/>
              </a:lnSpc>
              <a:spcBef>
                <a:spcPts val="400"/>
              </a:spcBef>
              <a:spcAft>
                <a:spcPts val="0"/>
              </a:spcAft>
              <a:buClr>
                <a:srgbClr val="0000FF"/>
              </a:buClr>
              <a:buSzPts val="2000"/>
              <a:buFont typeface="Arial"/>
              <a:buChar char="–"/>
              <a:defRPr sz="2000"/>
            </a:lvl4pPr>
            <a:lvl5pPr marL="2286000" lvl="4" indent="-355600" algn="l">
              <a:lnSpc>
                <a:spcPct val="100000"/>
              </a:lnSpc>
              <a:spcBef>
                <a:spcPts val="400"/>
              </a:spcBef>
              <a:spcAft>
                <a:spcPts val="0"/>
              </a:spcAft>
              <a:buClr>
                <a:srgbClr val="0000FF"/>
              </a:buClr>
              <a:buSzPts val="2000"/>
              <a:buFont typeface="Arial"/>
              <a:buChar char="»"/>
              <a:defRPr sz="2000"/>
            </a:lvl5pPr>
            <a:lvl6pPr marL="2743200" lvl="5" indent="-355600" algn="l">
              <a:lnSpc>
                <a:spcPct val="100000"/>
              </a:lnSpc>
              <a:spcBef>
                <a:spcPts val="400"/>
              </a:spcBef>
              <a:spcAft>
                <a:spcPts val="0"/>
              </a:spcAft>
              <a:buClr>
                <a:srgbClr val="0000FF"/>
              </a:buClr>
              <a:buSzPts val="2000"/>
              <a:buFont typeface="Arial"/>
              <a:buChar char="»"/>
              <a:defRPr sz="2000"/>
            </a:lvl6pPr>
            <a:lvl7pPr marL="3200400" lvl="6" indent="-355600" algn="l">
              <a:lnSpc>
                <a:spcPct val="100000"/>
              </a:lnSpc>
              <a:spcBef>
                <a:spcPts val="400"/>
              </a:spcBef>
              <a:spcAft>
                <a:spcPts val="0"/>
              </a:spcAft>
              <a:buClr>
                <a:srgbClr val="0000FF"/>
              </a:buClr>
              <a:buSzPts val="2000"/>
              <a:buFont typeface="Arial"/>
              <a:buChar char="»"/>
              <a:defRPr sz="2000"/>
            </a:lvl7pPr>
            <a:lvl8pPr marL="3657600" lvl="7" indent="-355600" algn="l">
              <a:lnSpc>
                <a:spcPct val="100000"/>
              </a:lnSpc>
              <a:spcBef>
                <a:spcPts val="400"/>
              </a:spcBef>
              <a:spcAft>
                <a:spcPts val="0"/>
              </a:spcAft>
              <a:buClr>
                <a:srgbClr val="0000FF"/>
              </a:buClr>
              <a:buSzPts val="2000"/>
              <a:buFont typeface="Arial"/>
              <a:buChar char="»"/>
              <a:defRPr sz="2000"/>
            </a:lvl8pPr>
            <a:lvl9pPr marL="4114800" lvl="8" indent="-355600" algn="l">
              <a:lnSpc>
                <a:spcPct val="100000"/>
              </a:lnSpc>
              <a:spcBef>
                <a:spcPts val="400"/>
              </a:spcBef>
              <a:spcAft>
                <a:spcPts val="0"/>
              </a:spcAft>
              <a:buClr>
                <a:srgbClr val="0000FF"/>
              </a:buClr>
              <a:buSzPts val="2000"/>
              <a:buFont typeface="Arial"/>
              <a:buChar char="»"/>
              <a:defRPr sz="2000"/>
            </a:lvl9pPr>
          </a:lstStyle>
          <a:p>
            <a:endParaRPr/>
          </a:p>
        </p:txBody>
      </p:sp>
      <p:sp>
        <p:nvSpPr>
          <p:cNvPr id="73" name="Google Shape;73;p19"/>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rgbClr val="0000FF"/>
              </a:buClr>
              <a:buSzPts val="1400"/>
              <a:buFont typeface="Arial"/>
              <a:buNone/>
              <a:defRPr sz="1400"/>
            </a:lvl1pPr>
            <a:lvl2pPr marL="914400" lvl="1" indent="-228600" algn="l">
              <a:lnSpc>
                <a:spcPct val="100000"/>
              </a:lnSpc>
              <a:spcBef>
                <a:spcPts val="240"/>
              </a:spcBef>
              <a:spcAft>
                <a:spcPts val="0"/>
              </a:spcAft>
              <a:buClr>
                <a:srgbClr val="0000FF"/>
              </a:buClr>
              <a:buSzPts val="1200"/>
              <a:buFont typeface="Arial"/>
              <a:buNone/>
              <a:defRPr sz="1200"/>
            </a:lvl2pPr>
            <a:lvl3pPr marL="1371600" lvl="2" indent="-228600" algn="l">
              <a:lnSpc>
                <a:spcPct val="100000"/>
              </a:lnSpc>
              <a:spcBef>
                <a:spcPts val="200"/>
              </a:spcBef>
              <a:spcAft>
                <a:spcPts val="0"/>
              </a:spcAft>
              <a:buClr>
                <a:srgbClr val="0000FF"/>
              </a:buClr>
              <a:buSzPts val="1000"/>
              <a:buFont typeface="Arial"/>
              <a:buNone/>
              <a:defRPr sz="1000"/>
            </a:lvl3pPr>
            <a:lvl4pPr marL="1828800" lvl="3" indent="-228600" algn="l">
              <a:lnSpc>
                <a:spcPct val="100000"/>
              </a:lnSpc>
              <a:spcBef>
                <a:spcPts val="180"/>
              </a:spcBef>
              <a:spcAft>
                <a:spcPts val="0"/>
              </a:spcAft>
              <a:buClr>
                <a:srgbClr val="0000FF"/>
              </a:buClr>
              <a:buSzPts val="900"/>
              <a:buFont typeface="Arial"/>
              <a:buNone/>
              <a:defRPr sz="900"/>
            </a:lvl4pPr>
            <a:lvl5pPr marL="2286000" lvl="4" indent="-228600" algn="l">
              <a:lnSpc>
                <a:spcPct val="100000"/>
              </a:lnSpc>
              <a:spcBef>
                <a:spcPts val="180"/>
              </a:spcBef>
              <a:spcAft>
                <a:spcPts val="0"/>
              </a:spcAft>
              <a:buClr>
                <a:srgbClr val="0000FF"/>
              </a:buClr>
              <a:buSzPts val="900"/>
              <a:buFont typeface="Arial"/>
              <a:buNone/>
              <a:defRPr sz="900"/>
            </a:lvl5pPr>
            <a:lvl6pPr marL="2743200" lvl="5" indent="-228600" algn="l">
              <a:lnSpc>
                <a:spcPct val="100000"/>
              </a:lnSpc>
              <a:spcBef>
                <a:spcPts val="180"/>
              </a:spcBef>
              <a:spcAft>
                <a:spcPts val="0"/>
              </a:spcAft>
              <a:buClr>
                <a:srgbClr val="0000FF"/>
              </a:buClr>
              <a:buSzPts val="900"/>
              <a:buFont typeface="Arial"/>
              <a:buNone/>
              <a:defRPr sz="900"/>
            </a:lvl6pPr>
            <a:lvl7pPr marL="3200400" lvl="6" indent="-228600" algn="l">
              <a:lnSpc>
                <a:spcPct val="100000"/>
              </a:lnSpc>
              <a:spcBef>
                <a:spcPts val="180"/>
              </a:spcBef>
              <a:spcAft>
                <a:spcPts val="0"/>
              </a:spcAft>
              <a:buClr>
                <a:srgbClr val="0000FF"/>
              </a:buClr>
              <a:buSzPts val="900"/>
              <a:buFont typeface="Arial"/>
              <a:buNone/>
              <a:defRPr sz="900"/>
            </a:lvl7pPr>
            <a:lvl8pPr marL="3657600" lvl="7" indent="-228600" algn="l">
              <a:lnSpc>
                <a:spcPct val="100000"/>
              </a:lnSpc>
              <a:spcBef>
                <a:spcPts val="180"/>
              </a:spcBef>
              <a:spcAft>
                <a:spcPts val="0"/>
              </a:spcAft>
              <a:buClr>
                <a:srgbClr val="0000FF"/>
              </a:buClr>
              <a:buSzPts val="900"/>
              <a:buFont typeface="Arial"/>
              <a:buNone/>
              <a:defRPr sz="900"/>
            </a:lvl8pPr>
            <a:lvl9pPr marL="4114800" lvl="8" indent="-228600" algn="l">
              <a:lnSpc>
                <a:spcPct val="100000"/>
              </a:lnSpc>
              <a:spcBef>
                <a:spcPts val="180"/>
              </a:spcBef>
              <a:spcAft>
                <a:spcPts val="0"/>
              </a:spcAft>
              <a:buClr>
                <a:srgbClr val="0000FF"/>
              </a:buClr>
              <a:buSzPts val="900"/>
              <a:buFont typeface="Arial"/>
              <a:buNone/>
              <a:defRPr sz="9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20"/>
          <p:cNvSpPr>
            <a:spLocks noGrp="1"/>
          </p:cNvSpPr>
          <p:nvPr>
            <p:ph type="pic" idx="2"/>
          </p:nvPr>
        </p:nvSpPr>
        <p:spPr>
          <a:xfrm>
            <a:off x="1792288" y="459581"/>
            <a:ext cx="5486400" cy="3086100"/>
          </a:xfrm>
          <a:prstGeom prst="rect">
            <a:avLst/>
          </a:prstGeom>
          <a:noFill/>
          <a:ln>
            <a:noFill/>
          </a:ln>
        </p:spPr>
      </p:sp>
      <p:sp>
        <p:nvSpPr>
          <p:cNvPr id="77" name="Google Shape;77;p20"/>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rgbClr val="0000FF"/>
              </a:buClr>
              <a:buSzPts val="1400"/>
              <a:buFont typeface="Arial"/>
              <a:buNone/>
              <a:defRPr sz="1400"/>
            </a:lvl1pPr>
            <a:lvl2pPr marL="914400" lvl="1" indent="-228600" algn="l">
              <a:lnSpc>
                <a:spcPct val="100000"/>
              </a:lnSpc>
              <a:spcBef>
                <a:spcPts val="240"/>
              </a:spcBef>
              <a:spcAft>
                <a:spcPts val="0"/>
              </a:spcAft>
              <a:buClr>
                <a:srgbClr val="0000FF"/>
              </a:buClr>
              <a:buSzPts val="1200"/>
              <a:buFont typeface="Arial"/>
              <a:buNone/>
              <a:defRPr sz="1200"/>
            </a:lvl2pPr>
            <a:lvl3pPr marL="1371600" lvl="2" indent="-228600" algn="l">
              <a:lnSpc>
                <a:spcPct val="100000"/>
              </a:lnSpc>
              <a:spcBef>
                <a:spcPts val="200"/>
              </a:spcBef>
              <a:spcAft>
                <a:spcPts val="0"/>
              </a:spcAft>
              <a:buClr>
                <a:srgbClr val="0000FF"/>
              </a:buClr>
              <a:buSzPts val="1000"/>
              <a:buFont typeface="Arial"/>
              <a:buNone/>
              <a:defRPr sz="1000"/>
            </a:lvl3pPr>
            <a:lvl4pPr marL="1828800" lvl="3" indent="-228600" algn="l">
              <a:lnSpc>
                <a:spcPct val="100000"/>
              </a:lnSpc>
              <a:spcBef>
                <a:spcPts val="180"/>
              </a:spcBef>
              <a:spcAft>
                <a:spcPts val="0"/>
              </a:spcAft>
              <a:buClr>
                <a:srgbClr val="0000FF"/>
              </a:buClr>
              <a:buSzPts val="900"/>
              <a:buFont typeface="Arial"/>
              <a:buNone/>
              <a:defRPr sz="900"/>
            </a:lvl4pPr>
            <a:lvl5pPr marL="2286000" lvl="4" indent="-228600" algn="l">
              <a:lnSpc>
                <a:spcPct val="100000"/>
              </a:lnSpc>
              <a:spcBef>
                <a:spcPts val="180"/>
              </a:spcBef>
              <a:spcAft>
                <a:spcPts val="0"/>
              </a:spcAft>
              <a:buClr>
                <a:srgbClr val="0000FF"/>
              </a:buClr>
              <a:buSzPts val="900"/>
              <a:buFont typeface="Arial"/>
              <a:buNone/>
              <a:defRPr sz="900"/>
            </a:lvl5pPr>
            <a:lvl6pPr marL="2743200" lvl="5" indent="-228600" algn="l">
              <a:lnSpc>
                <a:spcPct val="100000"/>
              </a:lnSpc>
              <a:spcBef>
                <a:spcPts val="180"/>
              </a:spcBef>
              <a:spcAft>
                <a:spcPts val="0"/>
              </a:spcAft>
              <a:buClr>
                <a:srgbClr val="0000FF"/>
              </a:buClr>
              <a:buSzPts val="900"/>
              <a:buFont typeface="Arial"/>
              <a:buNone/>
              <a:defRPr sz="900"/>
            </a:lvl6pPr>
            <a:lvl7pPr marL="3200400" lvl="6" indent="-228600" algn="l">
              <a:lnSpc>
                <a:spcPct val="100000"/>
              </a:lnSpc>
              <a:spcBef>
                <a:spcPts val="180"/>
              </a:spcBef>
              <a:spcAft>
                <a:spcPts val="0"/>
              </a:spcAft>
              <a:buClr>
                <a:srgbClr val="0000FF"/>
              </a:buClr>
              <a:buSzPts val="900"/>
              <a:buFont typeface="Arial"/>
              <a:buNone/>
              <a:defRPr sz="900"/>
            </a:lvl7pPr>
            <a:lvl8pPr marL="3657600" lvl="7" indent="-228600" algn="l">
              <a:lnSpc>
                <a:spcPct val="100000"/>
              </a:lnSpc>
              <a:spcBef>
                <a:spcPts val="180"/>
              </a:spcBef>
              <a:spcAft>
                <a:spcPts val="0"/>
              </a:spcAft>
              <a:buClr>
                <a:srgbClr val="0000FF"/>
              </a:buClr>
              <a:buSzPts val="900"/>
              <a:buFont typeface="Arial"/>
              <a:buNone/>
              <a:defRPr sz="900"/>
            </a:lvl8pPr>
            <a:lvl9pPr marL="4114800" lvl="8" indent="-228600" algn="l">
              <a:lnSpc>
                <a:spcPct val="100000"/>
              </a:lnSpc>
              <a:spcBef>
                <a:spcPts val="180"/>
              </a:spcBef>
              <a:spcAft>
                <a:spcPts val="0"/>
              </a:spcAft>
              <a:buClr>
                <a:srgbClr val="0000FF"/>
              </a:buClr>
              <a:buSzPts val="900"/>
              <a:buFont typeface="Arial"/>
              <a:buNone/>
              <a:defRPr sz="9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21"/>
          <p:cNvSpPr txBox="1">
            <a:spLocks noGrp="1"/>
          </p:cNvSpPr>
          <p:nvPr>
            <p:ph type="body" idx="1"/>
          </p:nvPr>
        </p:nvSpPr>
        <p:spPr>
          <a:xfrm rot="5400000">
            <a:off x="2874763" y="-1217414"/>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rot="5400000">
            <a:off x="5463778" y="1371600"/>
            <a:ext cx="4388644"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 name="Google Shape;83;p22"/>
          <p:cNvSpPr txBox="1">
            <a:spLocks noGrp="1"/>
          </p:cNvSpPr>
          <p:nvPr>
            <p:ph type="body" idx="1"/>
          </p:nvPr>
        </p:nvSpPr>
        <p:spPr>
          <a:xfrm rot="5400000">
            <a:off x="1272779" y="-609599"/>
            <a:ext cx="4388644"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Text, and Content" type="txAndObj">
  <p:cSld name="TEXT_AND_OBJEC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 name="Google Shape;86;p23"/>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
        <p:nvSpPr>
          <p:cNvPr id="87" name="Google Shape;87;p23"/>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alpha val="0"/>
          </a:srgbClr>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1pPr>
            <a:lvl2pPr marL="914400" marR="0" lvl="1"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2pPr>
            <a:lvl3pPr marL="1371600" marR="0" lvl="2"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3pPr>
            <a:lvl4pPr marL="1828800" marR="0" lvl="3"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4pPr>
            <a:lvl5pPr marL="2286000" marR="0" lvl="4"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5pPr>
            <a:lvl6pPr marL="2743200" marR="0" lvl="5"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6pPr>
            <a:lvl7pPr marL="3200400" marR="0" lvl="6"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7pPr>
            <a:lvl8pPr marL="3657600" marR="0" lvl="7"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8pPr>
            <a:lvl9pPr marL="4114800" marR="0" lvl="8"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pdf/1911.08623"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cybersecurity.springeropen.com/articles/10.1186/s42400-022-00134-9"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sp>
        <p:nvSpPr>
          <p:cNvPr id="93" name="Google Shape;93;p24"/>
          <p:cNvSpPr txBox="1">
            <a:spLocks noGrp="1"/>
          </p:cNvSpPr>
          <p:nvPr>
            <p:ph type="ctrTitle"/>
          </p:nvPr>
        </p:nvSpPr>
        <p:spPr>
          <a:xfrm>
            <a:off x="304800" y="571500"/>
            <a:ext cx="8686800" cy="1657350"/>
          </a:xfrm>
          <a:prstGeom prst="rect">
            <a:avLst/>
          </a:prstGeom>
          <a:noFill/>
          <a:ln>
            <a:noFill/>
          </a:ln>
        </p:spPr>
        <p:txBody>
          <a:bodyPr spcFirstLastPara="1" wrap="square" lIns="91425" tIns="45700" rIns="91425" bIns="45700" anchor="ctr" anchorCtr="0">
            <a:noAutofit/>
          </a:bodyPr>
          <a:lstStyle/>
          <a:p>
            <a:r>
              <a:rPr lang="en" b="1" err="1">
                <a:solidFill>
                  <a:srgbClr val="FFFFFF"/>
                </a:solidFill>
              </a:rPr>
              <a:t>DDeepeeutDeeoencoder</a:t>
            </a:r>
            <a:endParaRPr lang="en" err="1"/>
          </a:p>
        </p:txBody>
      </p:sp>
      <p:sp>
        <p:nvSpPr>
          <p:cNvPr id="94" name="Google Shape;94;p24"/>
          <p:cNvSpPr txBox="1">
            <a:spLocks noGrp="1"/>
          </p:cNvSpPr>
          <p:nvPr>
            <p:ph type="subTitle" idx="1"/>
          </p:nvPr>
        </p:nvSpPr>
        <p:spPr>
          <a:xfrm>
            <a:off x="115887" y="2457450"/>
            <a:ext cx="8610600" cy="1200300"/>
          </a:xfrm>
          <a:prstGeom prst="rect">
            <a:avLst/>
          </a:prstGeom>
          <a:noFill/>
          <a:ln>
            <a:noFill/>
          </a:ln>
        </p:spPr>
        <p:txBody>
          <a:bodyPr spcFirstLastPara="1" wrap="square" lIns="91425" tIns="45700" rIns="91425" bIns="45700" anchor="t" anchorCtr="0">
            <a:noAutofit/>
          </a:bodyPr>
          <a:lstStyle/>
          <a:p>
            <a:pPr marL="0" indent="0">
              <a:lnSpc>
                <a:spcPct val="90000"/>
              </a:lnSpc>
              <a:spcBef>
                <a:spcPts val="600"/>
              </a:spcBef>
            </a:pPr>
            <a:r>
              <a:rPr lang="en" sz="2000" err="1">
                <a:latin typeface="Consolas"/>
                <a:sym typeface="Helvetica Neue"/>
              </a:rPr>
              <a:t>Kollapudi</a:t>
            </a:r>
            <a:r>
              <a:rPr lang="en" sz="2000" dirty="0">
                <a:latin typeface="Consolas"/>
                <a:sym typeface="Helvetica Neue"/>
              </a:rPr>
              <a:t> Jithin</a:t>
            </a:r>
            <a:endParaRPr lang="en-US" sz="2000">
              <a:latin typeface="Consolas"/>
            </a:endParaRPr>
          </a:p>
          <a:p>
            <a:pPr marL="0" indent="0">
              <a:lnSpc>
                <a:spcPct val="90000"/>
              </a:lnSpc>
              <a:spcBef>
                <a:spcPts val="600"/>
              </a:spcBef>
              <a:buClr>
                <a:srgbClr val="FE8637"/>
              </a:buClr>
              <a:buSzPts val="2240"/>
            </a:pPr>
            <a:r>
              <a:rPr lang="en" sz="2000" dirty="0">
                <a:latin typeface="Consolas"/>
              </a:rPr>
              <a:t> 23b1236</a:t>
            </a:r>
          </a:p>
          <a:p>
            <a:pPr marL="0" lvl="0" indent="0" algn="ctr">
              <a:lnSpc>
                <a:spcPct val="90000"/>
              </a:lnSpc>
              <a:spcBef>
                <a:spcPts val="600"/>
              </a:spcBef>
              <a:spcAft>
                <a:spcPts val="0"/>
              </a:spcAft>
              <a:buSzPts val="2240"/>
              <a:buFont typeface="Arial"/>
              <a:buNone/>
            </a:pPr>
            <a:endParaRPr lang="en" sz="2900">
              <a:solidFill>
                <a:srgbClr val="0000FF"/>
              </a:solidFill>
            </a:endParaRPr>
          </a:p>
          <a:p>
            <a:pPr marL="0" lvl="0" indent="0" algn="ctr" rtl="0">
              <a:lnSpc>
                <a:spcPct val="90000"/>
              </a:lnSpc>
              <a:spcBef>
                <a:spcPts val="600"/>
              </a:spcBef>
              <a:spcAft>
                <a:spcPts val="0"/>
              </a:spcAft>
              <a:buClr>
                <a:srgbClr val="FE8637"/>
              </a:buClr>
              <a:buSzPts val="2240"/>
              <a:buFont typeface="Arial"/>
              <a:buNone/>
            </a:pPr>
            <a:endParaRPr lang="en" sz="2900">
              <a:solidFill>
                <a:srgbClr val="0000FF"/>
              </a:solidFill>
            </a:endParaRPr>
          </a:p>
        </p:txBody>
      </p:sp>
      <p:sp>
        <p:nvSpPr>
          <p:cNvPr id="7" name="TextBox 6">
            <a:extLst>
              <a:ext uri="{FF2B5EF4-FFF2-40B4-BE49-F238E27FC236}">
                <a16:creationId xmlns:a16="http://schemas.microsoft.com/office/drawing/2014/main" id="{8A467E88-A72D-BD5C-A9CA-BC358E72190A}"/>
              </a:ext>
            </a:extLst>
          </p:cNvPr>
          <p:cNvSpPr txBox="1"/>
          <p:nvPr/>
        </p:nvSpPr>
        <p:spPr>
          <a:xfrm>
            <a:off x="1417319" y="640079"/>
            <a:ext cx="672998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latin typeface="Constantia"/>
              </a:rPr>
              <a:t>Deep Anomaly Detection using Variational Autoencoders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Problem Statement</a:t>
            </a:r>
            <a:endParaRPr b="1"/>
          </a:p>
        </p:txBody>
      </p:sp>
      <p:sp>
        <p:nvSpPr>
          <p:cNvPr id="100" name="Google Shape;100;p25"/>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indent="0">
              <a:buNone/>
            </a:pPr>
            <a:r>
              <a:rPr lang="en" sz="1600" b="1">
                <a:highlight>
                  <a:srgbClr val="FFFFFF"/>
                </a:highlight>
                <a:latin typeface="Helvetica Neue"/>
                <a:ea typeface="Helvetica Neue"/>
                <a:cs typeface="Helvetica Neue"/>
              </a:rPr>
              <a:t>Input:</a:t>
            </a:r>
            <a:r>
              <a:rPr lang="en" sz="1600">
                <a:highlight>
                  <a:srgbClr val="FFFFFF"/>
                </a:highlight>
                <a:latin typeface="Helvetica Neue"/>
                <a:ea typeface="Helvetica Neue"/>
                <a:cs typeface="Helvetica Neue"/>
              </a:rPr>
              <a:t>  </a:t>
            </a:r>
            <a:endParaRPr lang="en-US" sz="1600">
              <a:highlight>
                <a:srgbClr val="FFFFFF"/>
              </a:highlight>
              <a:latin typeface="Helvetica Neue"/>
              <a:ea typeface="Helvetica Neue"/>
              <a:cs typeface="Helvetica Neue"/>
            </a:endParaRPr>
          </a:p>
          <a:p>
            <a:pPr marL="0" indent="0">
              <a:lnSpc>
                <a:spcPct val="114999"/>
              </a:lnSpc>
              <a:spcBef>
                <a:spcPts val="1000"/>
              </a:spcBef>
              <a:buSzPts val="1100"/>
              <a:buNone/>
            </a:pPr>
            <a:r>
              <a:rPr lang="en" sz="1600">
                <a:highlight>
                  <a:srgbClr val="FFFFFF"/>
                </a:highlight>
                <a:latin typeface="Helvetica Neue"/>
                <a:ea typeface="Helvetica Neue"/>
                <a:cs typeface="Helvetica Neue"/>
              </a:rPr>
              <a:t> Multidimensional fully/partially labelled dataset (PCA-transformed features, Time, Amount, pixels, etc)</a:t>
            </a:r>
          </a:p>
          <a:p>
            <a:pPr marL="0" indent="0">
              <a:spcBef>
                <a:spcPts val="1000"/>
              </a:spcBef>
              <a:buNone/>
            </a:pPr>
            <a:r>
              <a:rPr lang="en" sz="1600" b="1">
                <a:highlight>
                  <a:srgbClr val="FFFFFF"/>
                </a:highlight>
                <a:latin typeface="Helvetica Neue"/>
                <a:ea typeface="Helvetica Neue"/>
                <a:cs typeface="Helvetica Neue"/>
              </a:rPr>
              <a:t>Output:</a:t>
            </a:r>
            <a:r>
              <a:rPr lang="en" sz="1600">
                <a:highlight>
                  <a:srgbClr val="FFFFFF"/>
                </a:highlight>
                <a:latin typeface="Helvetica Neue"/>
                <a:ea typeface="Helvetica Neue"/>
                <a:cs typeface="Helvetica Neue"/>
              </a:rPr>
              <a:t>  </a:t>
            </a:r>
          </a:p>
          <a:p>
            <a:pPr marL="0" indent="0">
              <a:lnSpc>
                <a:spcPct val="114999"/>
              </a:lnSpc>
              <a:spcBef>
                <a:spcPts val="1000"/>
              </a:spcBef>
              <a:buSzPts val="1100"/>
              <a:buNone/>
            </a:pPr>
            <a:r>
              <a:rPr lang="en" sz="1600">
                <a:highlight>
                  <a:srgbClr val="FFFFFF"/>
                </a:highlight>
                <a:latin typeface="Helvetica Neue"/>
                <a:ea typeface="Helvetica Neue"/>
                <a:cs typeface="Helvetica Neue"/>
              </a:rPr>
              <a:t>Binary classification (anomaly(1) or normal(0))</a:t>
            </a:r>
          </a:p>
          <a:p>
            <a:pPr marL="0" indent="0">
              <a:spcBef>
                <a:spcPts val="1000"/>
              </a:spcBef>
              <a:buNone/>
            </a:pPr>
            <a:r>
              <a:rPr lang="en" sz="1600" b="1">
                <a:highlight>
                  <a:srgbClr val="FFFFFF"/>
                </a:highlight>
                <a:latin typeface="Helvetica Neue"/>
                <a:ea typeface="Helvetica Neue"/>
                <a:cs typeface="Helvetica Neue"/>
              </a:rPr>
              <a:t>Example:</a:t>
            </a:r>
            <a:r>
              <a:rPr lang="en" sz="1600">
                <a:highlight>
                  <a:srgbClr val="FFFFFF"/>
                </a:highlight>
                <a:latin typeface="Helvetica Neue"/>
                <a:ea typeface="Helvetica Neue"/>
                <a:cs typeface="Helvetica Neue"/>
              </a:rPr>
              <a:t>  </a:t>
            </a:r>
          </a:p>
          <a:p>
            <a:pPr marL="0" indent="0">
              <a:buNone/>
            </a:pPr>
            <a:r>
              <a:rPr lang="en" sz="1600">
                <a:highlight>
                  <a:srgbClr val="FFFFFF"/>
                </a:highlight>
                <a:latin typeface="Helvetica Neue"/>
                <a:ea typeface="Helvetica Neue"/>
                <a:cs typeface="Helvetica Neue"/>
              </a:rPr>
              <a:t>Input: Image of a dog given original data of cat pictures(few dog pictures as anomalies)</a:t>
            </a:r>
          </a:p>
          <a:p>
            <a:pPr marL="0" indent="0">
              <a:lnSpc>
                <a:spcPct val="114999"/>
              </a:lnSpc>
              <a:spcBef>
                <a:spcPts val="1000"/>
              </a:spcBef>
              <a:buSzPts val="1100"/>
              <a:buNone/>
            </a:pPr>
            <a:r>
              <a:rPr lang="en" sz="1600">
                <a:highlight>
                  <a:srgbClr val="FFFFFF"/>
                </a:highlight>
                <a:latin typeface="Helvetica Neue"/>
                <a:ea typeface="Helvetica Neue"/>
                <a:cs typeface="Helvetica Neue"/>
              </a:rPr>
              <a:t>Output: 1</a:t>
            </a:r>
            <a:endParaRPr lang="en" sz="1600">
              <a:solidFill>
                <a:srgbClr val="0000FF"/>
              </a:solidFill>
              <a:highlight>
                <a:srgbClr val="FFFFFF"/>
              </a:highlight>
              <a:latin typeface="Helvetica Neue"/>
              <a:ea typeface="Helvetica Neue"/>
              <a:cs typeface="Helvetica Neue"/>
            </a:endParaRPr>
          </a:p>
          <a:p>
            <a:pPr marL="0" lvl="0" indent="0" algn="l" rtl="0">
              <a:lnSpc>
                <a:spcPct val="115000"/>
              </a:lnSpc>
              <a:spcBef>
                <a:spcPts val="1000"/>
              </a:spcBef>
              <a:spcAft>
                <a:spcPts val="0"/>
              </a:spcAft>
              <a:buClr>
                <a:schemeClr val="dk1"/>
              </a:buClr>
              <a:buSzPts val="1100"/>
              <a:buFont typeface="Arial"/>
              <a:buNone/>
            </a:pPr>
            <a:endParaRPr sz="1600">
              <a:solidFill>
                <a:srgbClr val="0000FF"/>
              </a:solidFill>
              <a:highlight>
                <a:srgbClr val="FFFFFF"/>
              </a:highlight>
              <a:latin typeface="Helvetica Neue"/>
              <a:ea typeface="Helvetica Neue"/>
              <a:cs typeface="Helvetica Neue"/>
              <a:sym typeface="Helvetica Neue"/>
            </a:endParaRPr>
          </a:p>
          <a:p>
            <a:pPr marL="0" lvl="0" indent="0" algn="l" rtl="0">
              <a:lnSpc>
                <a:spcPct val="115000"/>
              </a:lnSpc>
              <a:spcBef>
                <a:spcPts val="0"/>
              </a:spcBef>
              <a:spcAft>
                <a:spcPts val="0"/>
              </a:spcAft>
              <a:buClr>
                <a:schemeClr val="dk1"/>
              </a:buClr>
              <a:buSzPts val="1100"/>
              <a:buFont typeface="Arial"/>
              <a:buNone/>
            </a:pPr>
            <a:endParaRPr sz="1500">
              <a:solidFill>
                <a:srgbClr val="0000FF"/>
              </a:solidFill>
            </a:endParaRPr>
          </a:p>
          <a:p>
            <a:pPr marL="0" lvl="0" indent="0" algn="l" rtl="0">
              <a:lnSpc>
                <a:spcPct val="100000"/>
              </a:lnSpc>
              <a:spcBef>
                <a:spcPts val="480"/>
              </a:spcBef>
              <a:spcAft>
                <a:spcPts val="0"/>
              </a:spcAft>
              <a:buSzPts val="2400"/>
              <a:buNone/>
            </a:pPr>
            <a:endParaRPr sz="2800" b="1">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457200" y="205978"/>
            <a:ext cx="8229600" cy="8574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
              <a:t>Goal Of Models</a:t>
            </a:r>
            <a:endParaRPr/>
          </a:p>
        </p:txBody>
      </p:sp>
      <p:sp>
        <p:nvSpPr>
          <p:cNvPr id="106" name="Google Shape;106;p26"/>
          <p:cNvSpPr txBox="1">
            <a:spLocks noGrp="1"/>
          </p:cNvSpPr>
          <p:nvPr>
            <p:ph type="body" idx="1"/>
          </p:nvPr>
        </p:nvSpPr>
        <p:spPr>
          <a:xfrm>
            <a:off x="457200" y="1200150"/>
            <a:ext cx="8229600" cy="33945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a:solidFill>
                  <a:srgbClr val="0000FF"/>
                </a:solidFill>
              </a:rPr>
              <a:t>These models aim to solve the core anomaly detection challenge — distinguishing rare anomalies from abundant normal data — using </a:t>
            </a:r>
            <a:r>
              <a:rPr lang="en" b="1">
                <a:solidFill>
                  <a:srgbClr val="0000FF"/>
                </a:solidFill>
              </a:rPr>
              <a:t>semi-supervised learning and representation learning</a:t>
            </a:r>
            <a:r>
              <a:rPr lang="en">
                <a:solidFill>
                  <a:srgbClr val="0000FF"/>
                </a:solidFill>
              </a:rPr>
              <a:t>.</a:t>
            </a:r>
            <a:endParaRPr>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457200" y="205978"/>
            <a:ext cx="8229600" cy="8574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Aim of Anomaly Detection</a:t>
            </a:r>
            <a:endParaRPr/>
          </a:p>
        </p:txBody>
      </p:sp>
      <p:sp>
        <p:nvSpPr>
          <p:cNvPr id="112" name="Google Shape;112;p27"/>
          <p:cNvSpPr txBox="1">
            <a:spLocks noGrp="1"/>
          </p:cNvSpPr>
          <p:nvPr>
            <p:ph type="body" idx="1"/>
          </p:nvPr>
        </p:nvSpPr>
        <p:spPr>
          <a:xfrm>
            <a:off x="457200" y="1200150"/>
            <a:ext cx="8229600" cy="33945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a:t>We want to reliably detect rare and diverse irregularities in data, often without labels, in a way that scales and adapts across domains and data types.</a:t>
            </a:r>
            <a:endParaRPr/>
          </a:p>
          <a:p>
            <a:pPr marL="0" lvl="0" indent="0" algn="l" rtl="0">
              <a:spcBef>
                <a:spcPts val="480"/>
              </a:spcBef>
              <a:spcAft>
                <a:spcPts val="0"/>
              </a:spcAft>
              <a:buNone/>
            </a:pPr>
            <a:r>
              <a:rPr lang="en"/>
              <a:t>NO</a:t>
            </a:r>
            <a:r>
              <a:rPr lang="en">
                <a:solidFill>
                  <a:srgbClr val="0000FF"/>
                </a:solidFill>
              </a:rPr>
              <a:t>TE: </a:t>
            </a:r>
            <a:r>
              <a:rPr lang="en" b="1">
                <a:solidFill>
                  <a:srgbClr val="0000FF"/>
                </a:solidFill>
              </a:rPr>
              <a:t>Vital in high-risk domains</a:t>
            </a:r>
            <a:r>
              <a:rPr lang="en">
                <a:solidFill>
                  <a:srgbClr val="0000FF"/>
                </a:solidFill>
              </a:rPr>
              <a:t> such as cybersecurity, finance, and healthcare where undetected anomalies can lead to major damage or loss.</a:t>
            </a:r>
            <a:endParaRPr>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Motivation</a:t>
            </a:r>
            <a:endParaRPr b="1"/>
          </a:p>
        </p:txBody>
      </p:sp>
      <p:sp>
        <p:nvSpPr>
          <p:cNvPr id="118" name="Google Shape;118;p28"/>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61950" algn="l" rtl="0">
              <a:lnSpc>
                <a:spcPct val="115000"/>
              </a:lnSpc>
              <a:spcBef>
                <a:spcPts val="1000"/>
              </a:spcBef>
              <a:spcAft>
                <a:spcPts val="0"/>
              </a:spcAft>
              <a:buClr>
                <a:srgbClr val="0000FF"/>
              </a:buClr>
              <a:buSzPts val="2100"/>
              <a:buFont typeface="Helvetica Neue"/>
              <a:buChar char="●"/>
            </a:pPr>
            <a:r>
              <a:rPr lang="en" sz="2100">
                <a:solidFill>
                  <a:srgbClr val="0000FF"/>
                </a:solidFill>
                <a:highlight>
                  <a:srgbClr val="FFFFFF"/>
                </a:highlight>
                <a:latin typeface="Helvetica Neue"/>
                <a:ea typeface="Helvetica Neue"/>
                <a:cs typeface="Helvetica Neue"/>
                <a:sym typeface="Helvetica Neue"/>
              </a:rPr>
              <a:t>Why did you choose this problem?</a:t>
            </a:r>
            <a:endParaRPr sz="2100">
              <a:solidFill>
                <a:srgbClr val="0000FF"/>
              </a:solidFill>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r>
              <a:rPr lang="en" sz="1700">
                <a:solidFill>
                  <a:srgbClr val="000000"/>
                </a:solidFill>
                <a:highlight>
                  <a:srgbClr val="FFFFFF"/>
                </a:highlight>
                <a:latin typeface="Helvetica Neue"/>
                <a:ea typeface="Helvetica Neue"/>
                <a:cs typeface="Helvetica Neue"/>
                <a:sym typeface="Helvetica Neue"/>
              </a:rPr>
              <a:t>This problem is has </a:t>
            </a:r>
            <a:r>
              <a:rPr lang="en" sz="1700" b="1">
                <a:solidFill>
                  <a:srgbClr val="000000"/>
                </a:solidFill>
                <a:highlight>
                  <a:srgbClr val="FFFFFF"/>
                </a:highlight>
                <a:latin typeface="Helvetica Neue"/>
                <a:ea typeface="Helvetica Neue"/>
                <a:cs typeface="Helvetica Neue"/>
                <a:sym typeface="Helvetica Neue"/>
              </a:rPr>
              <a:t>several real world applications</a:t>
            </a:r>
            <a:r>
              <a:rPr lang="en" sz="1700">
                <a:solidFill>
                  <a:srgbClr val="000000"/>
                </a:solidFill>
                <a:highlight>
                  <a:srgbClr val="FFFFFF"/>
                </a:highlight>
                <a:latin typeface="Helvetica Neue"/>
                <a:ea typeface="Helvetica Neue"/>
                <a:cs typeface="Helvetica Neue"/>
                <a:sym typeface="Helvetica Neue"/>
              </a:rPr>
              <a:t> and hasn’t yet been solved to an extent such that all such applications are satisfied. Credit card fraud for example is very</a:t>
            </a:r>
            <a:r>
              <a:rPr lang="en" sz="1700" b="1">
                <a:solidFill>
                  <a:srgbClr val="000000"/>
                </a:solidFill>
                <a:highlight>
                  <a:srgbClr val="FFFFFF"/>
                </a:highlight>
                <a:latin typeface="Helvetica Neue"/>
                <a:ea typeface="Helvetica Neue"/>
                <a:cs typeface="Helvetica Neue"/>
                <a:sym typeface="Helvetica Neue"/>
              </a:rPr>
              <a:t> hard to detect with existing algorithms</a:t>
            </a:r>
            <a:r>
              <a:rPr lang="en" sz="1700">
                <a:solidFill>
                  <a:srgbClr val="000000"/>
                </a:solidFill>
                <a:highlight>
                  <a:srgbClr val="FFFFFF"/>
                </a:highlight>
                <a:latin typeface="Helvetica Neue"/>
                <a:ea typeface="Helvetica Neue"/>
                <a:cs typeface="Helvetica Neue"/>
                <a:sym typeface="Helvetica Neue"/>
              </a:rPr>
              <a:t> and any better algorithm is always preferable. Data for such cases is also unlabeled if that person hasn’t committed fraud or anomaly if they have. So such data must go through semi supervised learning with very little labels. Anomaly detection seemed to be a very interesting problem dealing with real world problems and needs some intense thought to understand and deal with it.</a:t>
            </a:r>
            <a:endParaRPr sz="1700">
              <a:solidFill>
                <a:srgbClr val="000000"/>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SzPts val="2400"/>
              <a:buNone/>
            </a:pPr>
            <a:endParaRPr sz="33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Motivation</a:t>
            </a:r>
            <a:endParaRPr b="1"/>
          </a:p>
        </p:txBody>
      </p:sp>
      <p:sp>
        <p:nvSpPr>
          <p:cNvPr id="124" name="Google Shape;124;p29"/>
          <p:cNvSpPr txBox="1">
            <a:spLocks noGrp="1"/>
          </p:cNvSpPr>
          <p:nvPr>
            <p:ph type="body" idx="1"/>
          </p:nvPr>
        </p:nvSpPr>
        <p:spPr>
          <a:xfrm>
            <a:off x="457200" y="1200150"/>
            <a:ext cx="8229600" cy="3607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endParaRPr sz="1400">
              <a:solidFill>
                <a:srgbClr val="000000"/>
              </a:solidFill>
              <a:highlight>
                <a:srgbClr val="FFFFFF"/>
              </a:highlight>
              <a:latin typeface="Helvetica Neue"/>
              <a:ea typeface="Helvetica Neue"/>
              <a:cs typeface="Helvetica Neue"/>
              <a:sym typeface="Helvetica Neue"/>
            </a:endParaRPr>
          </a:p>
          <a:p>
            <a:pPr marL="457200" lvl="0" indent="-361950" algn="l" rtl="0">
              <a:lnSpc>
                <a:spcPct val="115000"/>
              </a:lnSpc>
              <a:spcBef>
                <a:spcPts val="1000"/>
              </a:spcBef>
              <a:spcAft>
                <a:spcPts val="0"/>
              </a:spcAft>
              <a:buClr>
                <a:srgbClr val="0000FF"/>
              </a:buClr>
              <a:buSzPts val="2100"/>
              <a:buFont typeface="Helvetica Neue"/>
              <a:buChar char="●"/>
            </a:pPr>
            <a:r>
              <a:rPr lang="en" sz="2100">
                <a:solidFill>
                  <a:srgbClr val="0000FF"/>
                </a:solidFill>
                <a:highlight>
                  <a:srgbClr val="FFFFFF"/>
                </a:highlight>
                <a:latin typeface="Helvetica Neue"/>
                <a:ea typeface="Helvetica Neue"/>
                <a:cs typeface="Helvetica Neue"/>
                <a:sym typeface="Helvetica Neue"/>
              </a:rPr>
              <a:t>What makes it interesting, impactful, or challenging?</a:t>
            </a:r>
            <a:endParaRPr sz="2100">
              <a:solidFill>
                <a:srgbClr val="0000FF"/>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SzPts val="2400"/>
              <a:buNone/>
            </a:pPr>
            <a:r>
              <a:rPr lang="en" sz="1600">
                <a:solidFill>
                  <a:schemeClr val="dk1"/>
                </a:solidFill>
              </a:rPr>
              <a:t>The fact that this problem has so many facets to look for and that not all work due to some hidden reason makes it an challenging and interesting problem: </a:t>
            </a:r>
            <a:endParaRPr sz="1600">
              <a:solidFill>
                <a:schemeClr val="dk1"/>
              </a:solidFill>
            </a:endParaRPr>
          </a:p>
          <a:p>
            <a:pPr marL="457200" lvl="0" indent="-330200" algn="l" rtl="0">
              <a:lnSpc>
                <a:spcPct val="100000"/>
              </a:lnSpc>
              <a:spcBef>
                <a:spcPts val="480"/>
              </a:spcBef>
              <a:spcAft>
                <a:spcPts val="0"/>
              </a:spcAft>
              <a:buClr>
                <a:schemeClr val="dk1"/>
              </a:buClr>
              <a:buSzPts val="1600"/>
              <a:buAutoNum type="arabicPeriod"/>
            </a:pPr>
            <a:r>
              <a:rPr lang="en" sz="1600">
                <a:solidFill>
                  <a:schemeClr val="dk1"/>
                </a:solidFill>
              </a:rPr>
              <a:t>Oversampling Anomaly data won’t work as anomalies are not clustered and taking parts of 2 anomalies might make a point which is actually normal.</a:t>
            </a:r>
            <a:endParaRPr sz="1600">
              <a:solidFill>
                <a:schemeClr val="dk1"/>
              </a:solidFill>
            </a:endParaRPr>
          </a:p>
          <a:p>
            <a:pPr marL="457200" lvl="0" indent="-330200" algn="l" rtl="0">
              <a:lnSpc>
                <a:spcPct val="100000"/>
              </a:lnSpc>
              <a:spcBef>
                <a:spcPts val="0"/>
              </a:spcBef>
              <a:spcAft>
                <a:spcPts val="0"/>
              </a:spcAft>
              <a:buClr>
                <a:schemeClr val="dk1"/>
              </a:buClr>
              <a:buSzPts val="1600"/>
              <a:buAutoNum type="arabicPeriod"/>
            </a:pPr>
            <a:r>
              <a:rPr lang="en" sz="1600">
                <a:solidFill>
                  <a:schemeClr val="dk1"/>
                </a:solidFill>
              </a:rPr>
              <a:t>Undersampling Normal Data may seem very useful but it loses important information very fast even if you take undersampling methods such as clustered undersampling.</a:t>
            </a:r>
            <a:endParaRPr sz="1600">
              <a:solidFill>
                <a:schemeClr val="dk1"/>
              </a:solidFill>
            </a:endParaRPr>
          </a:p>
          <a:p>
            <a:pPr marL="457200" lvl="0" indent="-330200" algn="l" rtl="0">
              <a:lnSpc>
                <a:spcPct val="100000"/>
              </a:lnSpc>
              <a:spcBef>
                <a:spcPts val="0"/>
              </a:spcBef>
              <a:spcAft>
                <a:spcPts val="0"/>
              </a:spcAft>
              <a:buClr>
                <a:schemeClr val="dk1"/>
              </a:buClr>
              <a:buSzPts val="1600"/>
              <a:buAutoNum type="arabicPeriod"/>
            </a:pPr>
            <a:r>
              <a:rPr lang="en" sz="1600">
                <a:solidFill>
                  <a:schemeClr val="dk1"/>
                </a:solidFill>
              </a:rPr>
              <a:t>Since the AUC-PR directly relates to anomaly detection this can be used as the loss for the network!!</a:t>
            </a:r>
            <a:endParaRPr sz="1600">
              <a:solidFill>
                <a:schemeClr val="dk1"/>
              </a:solidFill>
            </a:endParaRPr>
          </a:p>
          <a:p>
            <a:pPr marL="457200" lvl="0" indent="-330200" algn="l" rtl="0">
              <a:lnSpc>
                <a:spcPct val="100000"/>
              </a:lnSpc>
              <a:spcBef>
                <a:spcPts val="0"/>
              </a:spcBef>
              <a:spcAft>
                <a:spcPts val="0"/>
              </a:spcAft>
              <a:buClr>
                <a:schemeClr val="dk1"/>
              </a:buClr>
              <a:buSzPts val="1600"/>
              <a:buAutoNum type="arabicPeriod"/>
            </a:pPr>
            <a:r>
              <a:rPr lang="en" sz="1600">
                <a:solidFill>
                  <a:schemeClr val="dk1"/>
                </a:solidFill>
              </a:rPr>
              <a:t>And many more novel ideas</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0"/>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Motivation</a:t>
            </a:r>
            <a:endParaRPr b="1"/>
          </a:p>
        </p:txBody>
      </p:sp>
      <p:sp>
        <p:nvSpPr>
          <p:cNvPr id="130" name="Google Shape;130;p30"/>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endParaRPr sz="2100">
              <a:highlight>
                <a:srgbClr val="FFFFFF"/>
              </a:highlight>
              <a:latin typeface="Helvetica Neue"/>
              <a:ea typeface="Helvetica Neue"/>
              <a:cs typeface="Helvetica Neue"/>
              <a:sym typeface="Helvetica Neue"/>
            </a:endParaRPr>
          </a:p>
          <a:p>
            <a:pPr marL="457200" lvl="0" indent="-361950" algn="l" rtl="0">
              <a:lnSpc>
                <a:spcPct val="115000"/>
              </a:lnSpc>
              <a:spcBef>
                <a:spcPts val="1000"/>
              </a:spcBef>
              <a:spcAft>
                <a:spcPts val="0"/>
              </a:spcAft>
              <a:buClr>
                <a:srgbClr val="0000FF"/>
              </a:buClr>
              <a:buSzPts val="2100"/>
              <a:buFont typeface="Helvetica Neue"/>
              <a:buChar char="●"/>
            </a:pPr>
            <a:r>
              <a:rPr lang="en" sz="2100">
                <a:solidFill>
                  <a:srgbClr val="0000FF"/>
                </a:solidFill>
                <a:highlight>
                  <a:srgbClr val="FFFFFF"/>
                </a:highlight>
                <a:latin typeface="Helvetica Neue"/>
                <a:ea typeface="Helvetica Neue"/>
                <a:cs typeface="Helvetica Neue"/>
                <a:sym typeface="Helvetica Neue"/>
              </a:rPr>
              <a:t>Is there a real-world application or gap this project addresses?</a:t>
            </a:r>
            <a:endParaRPr sz="2100">
              <a:solidFill>
                <a:srgbClr val="0000FF"/>
              </a:solidFill>
              <a:highlight>
                <a:srgbClr val="FFFFFF"/>
              </a:highlight>
              <a:latin typeface="Helvetica Neue"/>
              <a:ea typeface="Helvetica Neue"/>
              <a:cs typeface="Helvetica Neue"/>
              <a:sym typeface="Helvetica Neue"/>
            </a:endParaRPr>
          </a:p>
          <a:p>
            <a:pPr marL="914400" lvl="0" indent="0" algn="l" rtl="0">
              <a:lnSpc>
                <a:spcPct val="100000"/>
              </a:lnSpc>
              <a:spcBef>
                <a:spcPts val="1000"/>
              </a:spcBef>
              <a:spcAft>
                <a:spcPts val="0"/>
              </a:spcAft>
              <a:buNone/>
            </a:pPr>
            <a:r>
              <a:rPr lang="en" sz="1800">
                <a:solidFill>
                  <a:schemeClr val="dk1"/>
                </a:solidFill>
              </a:rPr>
              <a:t>Yes there are multiple real world applications for anomaly detection:</a:t>
            </a:r>
            <a:endParaRPr sz="1800">
              <a:solidFill>
                <a:schemeClr val="dk1"/>
              </a:solidFill>
            </a:endParaRPr>
          </a:p>
          <a:p>
            <a:pPr marL="457200" lvl="0" indent="-342900" algn="l" rtl="0">
              <a:lnSpc>
                <a:spcPct val="100000"/>
              </a:lnSpc>
              <a:spcBef>
                <a:spcPts val="480"/>
              </a:spcBef>
              <a:spcAft>
                <a:spcPts val="0"/>
              </a:spcAft>
              <a:buClr>
                <a:schemeClr val="dk1"/>
              </a:buClr>
              <a:buSzPts val="1800"/>
              <a:buAutoNum type="arabicPeriod"/>
            </a:pPr>
            <a:r>
              <a:rPr lang="en" sz="1800">
                <a:solidFill>
                  <a:schemeClr val="dk1"/>
                </a:solidFill>
              </a:rPr>
              <a:t>Cybersecurity – intrusion detection</a:t>
            </a:r>
            <a:endParaRPr sz="1800">
              <a:solidFill>
                <a:schemeClr val="dk1"/>
              </a:solidFill>
            </a:endParaRPr>
          </a:p>
          <a:p>
            <a:pPr marL="457200" lvl="0" indent="-342900" algn="l" rtl="0">
              <a:lnSpc>
                <a:spcPct val="100000"/>
              </a:lnSpc>
              <a:spcBef>
                <a:spcPts val="0"/>
              </a:spcBef>
              <a:spcAft>
                <a:spcPts val="0"/>
              </a:spcAft>
              <a:buClr>
                <a:schemeClr val="dk1"/>
              </a:buClr>
              <a:buSzPts val="1800"/>
              <a:buAutoNum type="arabicPeriod"/>
            </a:pPr>
            <a:r>
              <a:rPr lang="en" sz="1800">
                <a:solidFill>
                  <a:schemeClr val="dk1"/>
                </a:solidFill>
              </a:rPr>
              <a:t>Financial fraud detection</a:t>
            </a:r>
            <a:endParaRPr sz="1800">
              <a:solidFill>
                <a:schemeClr val="dk1"/>
              </a:solidFill>
            </a:endParaRPr>
          </a:p>
          <a:p>
            <a:pPr marL="457200" lvl="0" indent="-342900" algn="l" rtl="0">
              <a:lnSpc>
                <a:spcPct val="100000"/>
              </a:lnSpc>
              <a:spcBef>
                <a:spcPts val="0"/>
              </a:spcBef>
              <a:spcAft>
                <a:spcPts val="0"/>
              </a:spcAft>
              <a:buClr>
                <a:schemeClr val="dk1"/>
              </a:buClr>
              <a:buSzPts val="1800"/>
              <a:buAutoNum type="arabicPeriod"/>
            </a:pPr>
            <a:r>
              <a:rPr lang="en" sz="1800">
                <a:solidFill>
                  <a:schemeClr val="dk1"/>
                </a:solidFill>
              </a:rPr>
              <a:t>Healthcare anomaly in vitals/imaging</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Literature Review</a:t>
            </a:r>
            <a:endParaRPr b="1"/>
          </a:p>
        </p:txBody>
      </p:sp>
      <p:sp>
        <p:nvSpPr>
          <p:cNvPr id="136" name="Google Shape;136;p31"/>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68300" algn="l" rtl="0">
              <a:lnSpc>
                <a:spcPct val="115000"/>
              </a:lnSpc>
              <a:spcBef>
                <a:spcPts val="1000"/>
              </a:spcBef>
              <a:spcAft>
                <a:spcPts val="0"/>
              </a:spcAft>
              <a:buClr>
                <a:srgbClr val="0000FF"/>
              </a:buClr>
              <a:buSzPts val="2200"/>
              <a:buFont typeface="Helvetica Neue"/>
              <a:buChar char="•"/>
            </a:pPr>
            <a:r>
              <a:rPr lang="en" sz="2200">
                <a:solidFill>
                  <a:srgbClr val="0000FF"/>
                </a:solidFill>
                <a:highlight>
                  <a:srgbClr val="FFFFFF"/>
                </a:highlight>
                <a:latin typeface="Helvetica Neue"/>
                <a:ea typeface="Helvetica Neue"/>
                <a:cs typeface="Helvetica Neue"/>
                <a:sym typeface="Helvetica Neue"/>
              </a:rPr>
              <a:t>Brief background and prior work related to your problem.</a:t>
            </a:r>
            <a:endParaRPr sz="2200">
              <a:solidFill>
                <a:srgbClr val="0000FF"/>
              </a:solidFill>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r>
              <a:rPr lang="en" sz="1400">
                <a:solidFill>
                  <a:schemeClr val="dk1"/>
                </a:solidFill>
                <a:highlight>
                  <a:srgbClr val="FFFFFF"/>
                </a:highlight>
                <a:latin typeface="Helvetica Neue"/>
                <a:ea typeface="Helvetica Neue"/>
                <a:cs typeface="Helvetica Neue"/>
                <a:sym typeface="Helvetica Neue"/>
              </a:rPr>
              <a:t>Isolation Forest, One-Class SVM, Autoencoder, Deep SVDD, DevNet, AnoGAN, ADGAN and OC-NN are some of the prior work related to anomaly detection</a:t>
            </a:r>
            <a:endParaRPr sz="1400">
              <a:solidFill>
                <a:schemeClr val="dk1"/>
              </a:solidFill>
              <a:highlight>
                <a:srgbClr val="FFFFFF"/>
              </a:highlight>
              <a:latin typeface="Helvetica Neue"/>
              <a:ea typeface="Helvetica Neue"/>
              <a:cs typeface="Helvetica Neue"/>
              <a:sym typeface="Helvetica Neue"/>
            </a:endParaRPr>
          </a:p>
          <a:p>
            <a:pPr marL="457200" lvl="0" indent="-368300" algn="l" rtl="0">
              <a:lnSpc>
                <a:spcPct val="115000"/>
              </a:lnSpc>
              <a:spcBef>
                <a:spcPts val="1000"/>
              </a:spcBef>
              <a:spcAft>
                <a:spcPts val="0"/>
              </a:spcAft>
              <a:buClr>
                <a:srgbClr val="0000FF"/>
              </a:buClr>
              <a:buSzPts val="2200"/>
              <a:buFont typeface="Helvetica Neue"/>
              <a:buChar char="•"/>
            </a:pPr>
            <a:r>
              <a:rPr lang="en" sz="2200">
                <a:solidFill>
                  <a:srgbClr val="0000FF"/>
                </a:solidFill>
                <a:highlight>
                  <a:srgbClr val="FFFFFF"/>
                </a:highlight>
                <a:latin typeface="Helvetica Neue"/>
                <a:ea typeface="Helvetica Neue"/>
                <a:cs typeface="Helvetica Neue"/>
                <a:sym typeface="Helvetica Neue"/>
              </a:rPr>
              <a:t>Key papers or methods that inspired your approach.</a:t>
            </a:r>
            <a:endParaRPr sz="2200">
              <a:solidFill>
                <a:srgbClr val="0000FF"/>
              </a:solidFill>
              <a:highlight>
                <a:srgbClr val="FFFFFF"/>
              </a:highlight>
              <a:latin typeface="Helvetica Neue"/>
              <a:ea typeface="Helvetica Neue"/>
              <a:cs typeface="Helvetica Neue"/>
              <a:sym typeface="Helvetica Neue"/>
            </a:endParaRPr>
          </a:p>
          <a:p>
            <a:pPr marL="0" lvl="0" indent="0" algn="ctr" rtl="0">
              <a:lnSpc>
                <a:spcPct val="100000"/>
              </a:lnSpc>
              <a:spcBef>
                <a:spcPts val="1000"/>
              </a:spcBef>
              <a:spcAft>
                <a:spcPts val="0"/>
              </a:spcAft>
              <a:buNone/>
            </a:pPr>
            <a:r>
              <a:rPr lang="en" sz="1400">
                <a:solidFill>
                  <a:schemeClr val="dk1"/>
                </a:solidFill>
              </a:rPr>
              <a:t>Our approach was heavily inspired by DevNet and autoencoder logic. Combining both their implementation was key to perform better than either.</a:t>
            </a:r>
            <a:endParaRPr sz="1400">
              <a:solidFill>
                <a:schemeClr val="dk1"/>
              </a:solidFill>
            </a:endParaRPr>
          </a:p>
          <a:p>
            <a:pPr marL="0" lvl="0" indent="0" algn="l" rtl="0">
              <a:lnSpc>
                <a:spcPct val="100000"/>
              </a:lnSpc>
              <a:spcBef>
                <a:spcPts val="480"/>
              </a:spcBef>
              <a:spcAft>
                <a:spcPts val="0"/>
              </a:spcAft>
              <a:buNone/>
            </a:pPr>
            <a:r>
              <a:rPr lang="en" sz="1400" b="1">
                <a:solidFill>
                  <a:schemeClr val="dk1"/>
                </a:solidFill>
              </a:rPr>
              <a:t>Ref:   </a:t>
            </a:r>
            <a:r>
              <a:rPr lang="en" sz="1400" u="sng">
                <a:solidFill>
                  <a:schemeClr val="dk1"/>
                </a:solidFill>
              </a:rPr>
              <a:t>Devnet</a:t>
            </a:r>
            <a:r>
              <a:rPr lang="en" sz="1400">
                <a:solidFill>
                  <a:schemeClr val="dk1"/>
                </a:solidFill>
              </a:rPr>
              <a:t>-&gt;</a:t>
            </a:r>
            <a:r>
              <a:rPr lang="en" sz="1400" u="sng">
                <a:solidFill>
                  <a:schemeClr val="hlink"/>
                </a:solidFill>
                <a:hlinkClick r:id="rId3"/>
              </a:rPr>
              <a:t>https://arxiv.org/pdf/1911.08623</a:t>
            </a:r>
            <a:r>
              <a:rPr lang="en" sz="1400">
                <a:solidFill>
                  <a:schemeClr val="dk1"/>
                </a:solidFill>
              </a:rPr>
              <a:t> </a:t>
            </a:r>
            <a:endParaRPr sz="1400">
              <a:solidFill>
                <a:schemeClr val="dk1"/>
              </a:solidFill>
            </a:endParaRPr>
          </a:p>
          <a:p>
            <a:pPr marL="457200" lvl="0" indent="0" algn="l" rtl="0">
              <a:lnSpc>
                <a:spcPct val="100000"/>
              </a:lnSpc>
              <a:spcBef>
                <a:spcPts val="480"/>
              </a:spcBef>
              <a:spcAft>
                <a:spcPts val="0"/>
              </a:spcAft>
              <a:buNone/>
            </a:pPr>
            <a:r>
              <a:rPr lang="en" sz="1400" u="sng">
                <a:solidFill>
                  <a:schemeClr val="dk1"/>
                </a:solidFill>
              </a:rPr>
              <a:t>Autoencoders</a:t>
            </a:r>
            <a:r>
              <a:rPr lang="en" sz="1400">
                <a:solidFill>
                  <a:schemeClr val="dk1"/>
                </a:solidFill>
              </a:rPr>
              <a:t>-&gt;</a:t>
            </a:r>
            <a:r>
              <a:rPr lang="en" sz="1400" u="sng">
                <a:solidFill>
                  <a:schemeClr val="hlink"/>
                </a:solidFill>
                <a:hlinkClick r:id="rId4"/>
              </a:rPr>
              <a:t>https://cybersecurity.springeropen.com/articles/10.1186/s42400-022-00134-9</a:t>
            </a:r>
            <a:endParaRPr sz="1400">
              <a:solidFill>
                <a:schemeClr val="dk1"/>
              </a:solidFill>
            </a:endParaRPr>
          </a:p>
          <a:p>
            <a:pPr marL="0" lvl="0" indent="0" algn="l" rtl="0">
              <a:lnSpc>
                <a:spcPct val="100000"/>
              </a:lnSpc>
              <a:spcBef>
                <a:spcPts val="480"/>
              </a:spcBef>
              <a:spcAft>
                <a:spcPts val="0"/>
              </a:spcAft>
              <a:buNone/>
            </a:pPr>
            <a:endParaRPr sz="1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2"/>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Dataset</a:t>
            </a:r>
            <a:endParaRPr b="1"/>
          </a:p>
        </p:txBody>
      </p:sp>
      <p:sp>
        <p:nvSpPr>
          <p:cNvPr id="142" name="Google Shape;142;p32"/>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spcBef>
                <a:spcPts val="480"/>
              </a:spcBef>
              <a:spcAft>
                <a:spcPts val="0"/>
              </a:spcAft>
              <a:buNone/>
            </a:pPr>
            <a:r>
              <a:rPr lang="en" sz="1600" b="1">
                <a:solidFill>
                  <a:srgbClr val="0000FF"/>
                </a:solidFill>
                <a:highlight>
                  <a:srgbClr val="FFFFFF"/>
                </a:highlight>
                <a:latin typeface="Helvetica Neue"/>
                <a:ea typeface="Helvetica Neue"/>
                <a:cs typeface="Helvetica Neue"/>
                <a:sym typeface="Helvetica Neue"/>
              </a:rPr>
              <a:t>Example Data Instance: First Line of Ann</a:t>
            </a:r>
            <a:r>
              <a:rPr lang="en" sz="1600" b="1">
                <a:highlight>
                  <a:srgbClr val="FFFFFF"/>
                </a:highlight>
                <a:latin typeface="Helvetica Neue"/>
                <a:ea typeface="Helvetica Neue"/>
                <a:cs typeface="Helvetica Neue"/>
                <a:sym typeface="Helvetica Neue"/>
              </a:rPr>
              <a:t>thyroid21 (relevant to thyroid disease)</a:t>
            </a:r>
            <a:endParaRPr sz="1600">
              <a:solidFill>
                <a:srgbClr val="0000FF"/>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050">
                <a:solidFill>
                  <a:srgbClr val="CCCCCC"/>
                </a:solidFill>
                <a:highlight>
                  <a:srgbClr val="1F1F1F"/>
                </a:highlight>
                <a:latin typeface="Courier New"/>
                <a:ea typeface="Courier New"/>
                <a:cs typeface="Courier New"/>
                <a:sym typeface="Courier New"/>
              </a:rPr>
              <a:t>Dim_0,</a:t>
            </a:r>
            <a:r>
              <a:rPr lang="en" sz="1050">
                <a:solidFill>
                  <a:srgbClr val="569CD6"/>
                </a:solidFill>
                <a:highlight>
                  <a:srgbClr val="1F1F1F"/>
                </a:highlight>
                <a:latin typeface="Courier New"/>
                <a:ea typeface="Courier New"/>
                <a:cs typeface="Courier New"/>
                <a:sym typeface="Courier New"/>
              </a:rPr>
              <a:t>Dim_1=0,</a:t>
            </a:r>
            <a:r>
              <a:rPr lang="en" sz="1050">
                <a:solidFill>
                  <a:srgbClr val="DCDCAA"/>
                </a:solidFill>
                <a:highlight>
                  <a:srgbClr val="1F1F1F"/>
                </a:highlight>
                <a:latin typeface="Courier New"/>
                <a:ea typeface="Courier New"/>
                <a:cs typeface="Courier New"/>
                <a:sym typeface="Courier New"/>
              </a:rPr>
              <a:t>Dim_2=0,</a:t>
            </a:r>
            <a:r>
              <a:rPr lang="en" sz="1050">
                <a:solidFill>
                  <a:srgbClr val="6A9955"/>
                </a:solidFill>
                <a:highlight>
                  <a:srgbClr val="1F1F1F"/>
                </a:highlight>
                <a:latin typeface="Courier New"/>
                <a:ea typeface="Courier New"/>
                <a:cs typeface="Courier New"/>
                <a:sym typeface="Courier New"/>
              </a:rPr>
              <a:t>Dim_3=0,</a:t>
            </a:r>
            <a:r>
              <a:rPr lang="en" sz="1050">
                <a:solidFill>
                  <a:srgbClr val="CE9178"/>
                </a:solidFill>
                <a:highlight>
                  <a:srgbClr val="1F1F1F"/>
                </a:highlight>
                <a:latin typeface="Courier New"/>
                <a:ea typeface="Courier New"/>
                <a:cs typeface="Courier New"/>
                <a:sym typeface="Courier New"/>
              </a:rPr>
              <a:t>Dim_4=0,</a:t>
            </a:r>
            <a:r>
              <a:rPr lang="en" sz="1050">
                <a:solidFill>
                  <a:srgbClr val="9CDCFE"/>
                </a:solidFill>
                <a:highlight>
                  <a:srgbClr val="1F1F1F"/>
                </a:highlight>
                <a:latin typeface="Courier New"/>
                <a:ea typeface="Courier New"/>
                <a:cs typeface="Courier New"/>
                <a:sym typeface="Courier New"/>
              </a:rPr>
              <a:t>Dim_5=0,</a:t>
            </a:r>
            <a:r>
              <a:rPr lang="en" sz="1050">
                <a:solidFill>
                  <a:srgbClr val="B5CEA8"/>
                </a:solidFill>
                <a:highlight>
                  <a:srgbClr val="1F1F1F"/>
                </a:highlight>
                <a:latin typeface="Courier New"/>
                <a:ea typeface="Courier New"/>
                <a:cs typeface="Courier New"/>
                <a:sym typeface="Courier New"/>
              </a:rPr>
              <a:t>Dim_6=0,</a:t>
            </a:r>
            <a:r>
              <a:rPr lang="en" sz="1050">
                <a:solidFill>
                  <a:srgbClr val="4EC9B0"/>
                </a:solidFill>
                <a:highlight>
                  <a:srgbClr val="1F1F1F"/>
                </a:highlight>
                <a:latin typeface="Courier New"/>
                <a:ea typeface="Courier New"/>
                <a:cs typeface="Courier New"/>
                <a:sym typeface="Courier New"/>
              </a:rPr>
              <a:t>Dim_7=0,</a:t>
            </a:r>
            <a:r>
              <a:rPr lang="en" sz="1050" b="1">
                <a:solidFill>
                  <a:srgbClr val="569CD6"/>
                </a:solidFill>
                <a:highlight>
                  <a:srgbClr val="1F1F1F"/>
                </a:highlight>
                <a:latin typeface="Courier New"/>
                <a:ea typeface="Courier New"/>
                <a:cs typeface="Courier New"/>
                <a:sym typeface="Courier New"/>
              </a:rPr>
              <a:t>Dim_8=0,</a:t>
            </a:r>
            <a:r>
              <a:rPr lang="en" sz="1050">
                <a:solidFill>
                  <a:srgbClr val="F44747"/>
                </a:solidFill>
                <a:highlight>
                  <a:srgbClr val="1F1F1F"/>
                </a:highlight>
                <a:latin typeface="Courier New"/>
                <a:ea typeface="Courier New"/>
                <a:cs typeface="Courier New"/>
                <a:sym typeface="Courier New"/>
              </a:rPr>
              <a:t>Dim_9=0,</a:t>
            </a:r>
            <a:r>
              <a:rPr lang="en" sz="1050">
                <a:solidFill>
                  <a:srgbClr val="CCCCCC"/>
                </a:solidFill>
                <a:highlight>
                  <a:srgbClr val="1F1F1F"/>
                </a:highlight>
                <a:latin typeface="Courier New"/>
                <a:ea typeface="Courier New"/>
                <a:cs typeface="Courier New"/>
                <a:sym typeface="Courier New"/>
              </a:rPr>
              <a:t>Dim_10=0,</a:t>
            </a:r>
            <a:r>
              <a:rPr lang="en" sz="1050">
                <a:solidFill>
                  <a:srgbClr val="569CD6"/>
                </a:solidFill>
                <a:highlight>
                  <a:srgbClr val="1F1F1F"/>
                </a:highlight>
                <a:latin typeface="Courier New"/>
                <a:ea typeface="Courier New"/>
                <a:cs typeface="Courier New"/>
                <a:sym typeface="Courier New"/>
              </a:rPr>
              <a:t>Dim_11=0,</a:t>
            </a:r>
            <a:r>
              <a:rPr lang="en" sz="1050">
                <a:solidFill>
                  <a:srgbClr val="DCDCAA"/>
                </a:solidFill>
                <a:highlight>
                  <a:srgbClr val="1F1F1F"/>
                </a:highlight>
                <a:latin typeface="Courier New"/>
                <a:ea typeface="Courier New"/>
                <a:cs typeface="Courier New"/>
                <a:sym typeface="Courier New"/>
              </a:rPr>
              <a:t>Dim_12=0,</a:t>
            </a:r>
            <a:r>
              <a:rPr lang="en" sz="1050">
                <a:solidFill>
                  <a:srgbClr val="6A9955"/>
                </a:solidFill>
                <a:highlight>
                  <a:srgbClr val="1F1F1F"/>
                </a:highlight>
                <a:latin typeface="Courier New"/>
                <a:ea typeface="Courier New"/>
                <a:cs typeface="Courier New"/>
                <a:sym typeface="Courier New"/>
              </a:rPr>
              <a:t>Dim_13=0,</a:t>
            </a:r>
            <a:r>
              <a:rPr lang="en" sz="1050">
                <a:solidFill>
                  <a:srgbClr val="CE9178"/>
                </a:solidFill>
                <a:highlight>
                  <a:srgbClr val="1F1F1F"/>
                </a:highlight>
                <a:latin typeface="Courier New"/>
                <a:ea typeface="Courier New"/>
                <a:cs typeface="Courier New"/>
                <a:sym typeface="Courier New"/>
              </a:rPr>
              <a:t>Dim_14=0,</a:t>
            </a:r>
            <a:r>
              <a:rPr lang="en" sz="1050">
                <a:solidFill>
                  <a:srgbClr val="9CDCFE"/>
                </a:solidFill>
                <a:highlight>
                  <a:srgbClr val="1F1F1F"/>
                </a:highlight>
                <a:latin typeface="Courier New"/>
                <a:ea typeface="Courier New"/>
                <a:cs typeface="Courier New"/>
                <a:sym typeface="Courier New"/>
              </a:rPr>
              <a:t>Dim_15=0,</a:t>
            </a:r>
            <a:r>
              <a:rPr lang="en" sz="1050">
                <a:solidFill>
                  <a:srgbClr val="B5CEA8"/>
                </a:solidFill>
                <a:highlight>
                  <a:srgbClr val="1F1F1F"/>
                </a:highlight>
                <a:latin typeface="Courier New"/>
                <a:ea typeface="Courier New"/>
                <a:cs typeface="Courier New"/>
                <a:sym typeface="Courier New"/>
              </a:rPr>
              <a:t>Dim_16,</a:t>
            </a:r>
            <a:r>
              <a:rPr lang="en" sz="1050">
                <a:solidFill>
                  <a:srgbClr val="4EC9B0"/>
                </a:solidFill>
                <a:highlight>
                  <a:srgbClr val="1F1F1F"/>
                </a:highlight>
                <a:latin typeface="Courier New"/>
                <a:ea typeface="Courier New"/>
                <a:cs typeface="Courier New"/>
                <a:sym typeface="Courier New"/>
              </a:rPr>
              <a:t>Dim_17,</a:t>
            </a:r>
            <a:r>
              <a:rPr lang="en" sz="1050" b="1">
                <a:solidFill>
                  <a:srgbClr val="569CD6"/>
                </a:solidFill>
                <a:highlight>
                  <a:srgbClr val="1F1F1F"/>
                </a:highlight>
                <a:latin typeface="Courier New"/>
                <a:ea typeface="Courier New"/>
                <a:cs typeface="Courier New"/>
                <a:sym typeface="Courier New"/>
              </a:rPr>
              <a:t>Dim_18,</a:t>
            </a:r>
            <a:r>
              <a:rPr lang="en" sz="1050">
                <a:solidFill>
                  <a:srgbClr val="F44747"/>
                </a:solidFill>
                <a:highlight>
                  <a:srgbClr val="1F1F1F"/>
                </a:highlight>
                <a:latin typeface="Courier New"/>
                <a:ea typeface="Courier New"/>
                <a:cs typeface="Courier New"/>
                <a:sym typeface="Courier New"/>
              </a:rPr>
              <a:t>Dim_19,</a:t>
            </a:r>
            <a:r>
              <a:rPr lang="en" sz="1050">
                <a:solidFill>
                  <a:srgbClr val="CCCCCC"/>
                </a:solidFill>
                <a:highlight>
                  <a:srgbClr val="1F1F1F"/>
                </a:highlight>
                <a:latin typeface="Courier New"/>
                <a:ea typeface="Courier New"/>
                <a:cs typeface="Courier New"/>
                <a:sym typeface="Courier New"/>
              </a:rPr>
              <a:t>Dim_20,</a:t>
            </a:r>
            <a:r>
              <a:rPr lang="en" sz="1050">
                <a:solidFill>
                  <a:srgbClr val="569CD6"/>
                </a:solidFill>
                <a:highlight>
                  <a:srgbClr val="1F1F1F"/>
                </a:highlight>
                <a:latin typeface="Courier New"/>
                <a:ea typeface="Courier New"/>
                <a:cs typeface="Courier New"/>
                <a:sym typeface="Courier New"/>
              </a:rPr>
              <a:t>class</a:t>
            </a:r>
            <a:endParaRPr sz="1050">
              <a:solidFill>
                <a:srgbClr val="569CD6"/>
              </a:solidFill>
              <a:highlight>
                <a:srgbClr val="1F1F1F"/>
              </a:highlight>
              <a:latin typeface="Courier New"/>
              <a:ea typeface="Courier New"/>
              <a:cs typeface="Courier New"/>
              <a:sym typeface="Courier New"/>
            </a:endParaRPr>
          </a:p>
          <a:p>
            <a:pPr marL="0" lvl="0" indent="0" algn="l" rtl="0">
              <a:lnSpc>
                <a:spcPct val="135714"/>
              </a:lnSpc>
              <a:spcBef>
                <a:spcPts val="1000"/>
              </a:spcBef>
              <a:spcAft>
                <a:spcPts val="0"/>
              </a:spcAft>
              <a:buNone/>
            </a:pPr>
            <a:r>
              <a:rPr lang="en" sz="1050">
                <a:solidFill>
                  <a:srgbClr val="CCCCCC"/>
                </a:solidFill>
                <a:highlight>
                  <a:srgbClr val="1F1F1F"/>
                </a:highlight>
                <a:latin typeface="Courier New"/>
                <a:ea typeface="Courier New"/>
                <a:cs typeface="Courier New"/>
                <a:sym typeface="Courier New"/>
              </a:rPr>
              <a:t>0.75,</a:t>
            </a:r>
            <a:r>
              <a:rPr lang="en" sz="1050">
                <a:solidFill>
                  <a:srgbClr val="569CD6"/>
                </a:solidFill>
                <a:highlight>
                  <a:srgbClr val="1F1F1F"/>
                </a:highlight>
                <a:latin typeface="Courier New"/>
                <a:ea typeface="Courier New"/>
                <a:cs typeface="Courier New"/>
                <a:sym typeface="Courier New"/>
              </a:rPr>
              <a:t>1,</a:t>
            </a:r>
            <a:r>
              <a:rPr lang="en" sz="1050">
                <a:solidFill>
                  <a:srgbClr val="DCDCAA"/>
                </a:solidFill>
                <a:highlight>
                  <a:srgbClr val="1F1F1F"/>
                </a:highlight>
                <a:latin typeface="Courier New"/>
                <a:ea typeface="Courier New"/>
                <a:cs typeface="Courier New"/>
                <a:sym typeface="Courier New"/>
              </a:rPr>
              <a:t>0,</a:t>
            </a:r>
            <a:r>
              <a:rPr lang="en" sz="1050">
                <a:solidFill>
                  <a:srgbClr val="6A9955"/>
                </a:solidFill>
                <a:highlight>
                  <a:srgbClr val="1F1F1F"/>
                </a:highlight>
                <a:latin typeface="Courier New"/>
                <a:ea typeface="Courier New"/>
                <a:cs typeface="Courier New"/>
                <a:sym typeface="Courier New"/>
              </a:rPr>
              <a:t>1,</a:t>
            </a:r>
            <a:r>
              <a:rPr lang="en" sz="1050">
                <a:solidFill>
                  <a:srgbClr val="CE9178"/>
                </a:solidFill>
                <a:highlight>
                  <a:srgbClr val="1F1F1F"/>
                </a:highlight>
                <a:latin typeface="Courier New"/>
                <a:ea typeface="Courier New"/>
                <a:cs typeface="Courier New"/>
                <a:sym typeface="Courier New"/>
              </a:rPr>
              <a:t>1,</a:t>
            </a:r>
            <a:r>
              <a:rPr lang="en" sz="1050">
                <a:solidFill>
                  <a:srgbClr val="9CDCFE"/>
                </a:solidFill>
                <a:highlight>
                  <a:srgbClr val="1F1F1F"/>
                </a:highlight>
                <a:latin typeface="Courier New"/>
                <a:ea typeface="Courier New"/>
                <a:cs typeface="Courier New"/>
                <a:sym typeface="Courier New"/>
              </a:rPr>
              <a:t>1,</a:t>
            </a:r>
            <a:r>
              <a:rPr lang="en" sz="1050">
                <a:solidFill>
                  <a:srgbClr val="B5CEA8"/>
                </a:solidFill>
                <a:highlight>
                  <a:srgbClr val="1F1F1F"/>
                </a:highlight>
                <a:latin typeface="Courier New"/>
                <a:ea typeface="Courier New"/>
                <a:cs typeface="Courier New"/>
                <a:sym typeface="Courier New"/>
              </a:rPr>
              <a:t>1,</a:t>
            </a:r>
            <a:r>
              <a:rPr lang="en" sz="1050">
                <a:solidFill>
                  <a:srgbClr val="4EC9B0"/>
                </a:solidFill>
                <a:highlight>
                  <a:srgbClr val="1F1F1F"/>
                </a:highlight>
                <a:latin typeface="Courier New"/>
                <a:ea typeface="Courier New"/>
                <a:cs typeface="Courier New"/>
                <a:sym typeface="Courier New"/>
              </a:rPr>
              <a:t>1,</a:t>
            </a:r>
            <a:r>
              <a:rPr lang="en" sz="1050" b="1">
                <a:solidFill>
                  <a:srgbClr val="569CD6"/>
                </a:solidFill>
                <a:highlight>
                  <a:srgbClr val="1F1F1F"/>
                </a:highlight>
                <a:latin typeface="Courier New"/>
                <a:ea typeface="Courier New"/>
                <a:cs typeface="Courier New"/>
                <a:sym typeface="Courier New"/>
              </a:rPr>
              <a:t>0,</a:t>
            </a:r>
            <a:r>
              <a:rPr lang="en" sz="1050">
                <a:solidFill>
                  <a:srgbClr val="F44747"/>
                </a:solidFill>
                <a:highlight>
                  <a:srgbClr val="1F1F1F"/>
                </a:highlight>
                <a:latin typeface="Courier New"/>
                <a:ea typeface="Courier New"/>
                <a:cs typeface="Courier New"/>
                <a:sym typeface="Courier New"/>
              </a:rPr>
              <a:t>1,</a:t>
            </a:r>
            <a:r>
              <a:rPr lang="en" sz="1050">
                <a:solidFill>
                  <a:srgbClr val="CCCCCC"/>
                </a:solidFill>
                <a:highlight>
                  <a:srgbClr val="1F1F1F"/>
                </a:highlight>
                <a:latin typeface="Courier New"/>
                <a:ea typeface="Courier New"/>
                <a:cs typeface="Courier New"/>
                <a:sym typeface="Courier New"/>
              </a:rPr>
              <a:t>1,</a:t>
            </a:r>
            <a:r>
              <a:rPr lang="en" sz="1050">
                <a:solidFill>
                  <a:srgbClr val="569CD6"/>
                </a:solidFill>
                <a:highlight>
                  <a:srgbClr val="1F1F1F"/>
                </a:highlight>
                <a:latin typeface="Courier New"/>
                <a:ea typeface="Courier New"/>
                <a:cs typeface="Courier New"/>
                <a:sym typeface="Courier New"/>
              </a:rPr>
              <a:t>1,</a:t>
            </a:r>
            <a:r>
              <a:rPr lang="en" sz="1050">
                <a:solidFill>
                  <a:srgbClr val="DCDCAA"/>
                </a:solidFill>
                <a:highlight>
                  <a:srgbClr val="1F1F1F"/>
                </a:highlight>
                <a:latin typeface="Courier New"/>
                <a:ea typeface="Courier New"/>
                <a:cs typeface="Courier New"/>
                <a:sym typeface="Courier New"/>
              </a:rPr>
              <a:t>1,</a:t>
            </a:r>
            <a:r>
              <a:rPr lang="en" sz="1050">
                <a:solidFill>
                  <a:srgbClr val="6A9955"/>
                </a:solidFill>
                <a:highlight>
                  <a:srgbClr val="1F1F1F"/>
                </a:highlight>
                <a:latin typeface="Courier New"/>
                <a:ea typeface="Courier New"/>
                <a:cs typeface="Courier New"/>
                <a:sym typeface="Courier New"/>
              </a:rPr>
              <a:t>1,</a:t>
            </a:r>
            <a:r>
              <a:rPr lang="en" sz="1050">
                <a:solidFill>
                  <a:srgbClr val="CE9178"/>
                </a:solidFill>
                <a:highlight>
                  <a:srgbClr val="1F1F1F"/>
                </a:highlight>
                <a:latin typeface="Courier New"/>
                <a:ea typeface="Courier New"/>
                <a:cs typeface="Courier New"/>
                <a:sym typeface="Courier New"/>
              </a:rPr>
              <a:t>1,</a:t>
            </a:r>
            <a:r>
              <a:rPr lang="en" sz="1050">
                <a:solidFill>
                  <a:srgbClr val="9CDCFE"/>
                </a:solidFill>
                <a:highlight>
                  <a:srgbClr val="1F1F1F"/>
                </a:highlight>
                <a:latin typeface="Courier New"/>
                <a:ea typeface="Courier New"/>
                <a:cs typeface="Courier New"/>
                <a:sym typeface="Courier New"/>
              </a:rPr>
              <a:t>1,</a:t>
            </a:r>
            <a:r>
              <a:rPr lang="en" sz="1050">
                <a:solidFill>
                  <a:srgbClr val="B5CEA8"/>
                </a:solidFill>
                <a:highlight>
                  <a:srgbClr val="1F1F1F"/>
                </a:highlight>
                <a:latin typeface="Courier New"/>
                <a:ea typeface="Courier New"/>
                <a:cs typeface="Courier New"/>
                <a:sym typeface="Courier New"/>
              </a:rPr>
              <a:t>0.001132,</a:t>
            </a:r>
            <a:r>
              <a:rPr lang="en" sz="1050">
                <a:solidFill>
                  <a:srgbClr val="4EC9B0"/>
                </a:solidFill>
                <a:highlight>
                  <a:srgbClr val="1F1F1F"/>
                </a:highlight>
                <a:latin typeface="Courier New"/>
                <a:ea typeface="Courier New"/>
                <a:cs typeface="Courier New"/>
                <a:sym typeface="Courier New"/>
              </a:rPr>
              <a:t>0.08078,</a:t>
            </a:r>
            <a:r>
              <a:rPr lang="en" sz="1050" b="1">
                <a:solidFill>
                  <a:srgbClr val="569CD6"/>
                </a:solidFill>
                <a:highlight>
                  <a:srgbClr val="1F1F1F"/>
                </a:highlight>
                <a:latin typeface="Courier New"/>
                <a:ea typeface="Courier New"/>
                <a:cs typeface="Courier New"/>
                <a:sym typeface="Courier New"/>
              </a:rPr>
              <a:t>0.197324,</a:t>
            </a:r>
            <a:r>
              <a:rPr lang="en" sz="1050">
                <a:solidFill>
                  <a:srgbClr val="F44747"/>
                </a:solidFill>
                <a:highlight>
                  <a:srgbClr val="1F1F1F"/>
                </a:highlight>
                <a:latin typeface="Courier New"/>
                <a:ea typeface="Courier New"/>
                <a:cs typeface="Courier New"/>
                <a:sym typeface="Courier New"/>
              </a:rPr>
              <a:t>0.300926,</a:t>
            </a:r>
            <a:r>
              <a:rPr lang="en" sz="1050">
                <a:solidFill>
                  <a:srgbClr val="CCCCCC"/>
                </a:solidFill>
                <a:highlight>
                  <a:srgbClr val="1F1F1F"/>
                </a:highlight>
                <a:latin typeface="Courier New"/>
                <a:ea typeface="Courier New"/>
                <a:cs typeface="Courier New"/>
                <a:sym typeface="Courier New"/>
              </a:rPr>
              <a:t>0.225,</a:t>
            </a:r>
            <a:r>
              <a:rPr lang="en" sz="1050">
                <a:solidFill>
                  <a:srgbClr val="569CD6"/>
                </a:solidFill>
                <a:highlight>
                  <a:srgbClr val="1F1F1F"/>
                </a:highlight>
                <a:latin typeface="Courier New"/>
                <a:ea typeface="Courier New"/>
                <a:cs typeface="Courier New"/>
                <a:sym typeface="Courier New"/>
              </a:rPr>
              <a:t>0</a:t>
            </a:r>
            <a:endParaRPr sz="1600">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600" b="1">
                <a:solidFill>
                  <a:srgbClr val="0000FF"/>
                </a:solidFill>
                <a:highlight>
                  <a:srgbClr val="FFFFFF"/>
                </a:highlight>
                <a:latin typeface="Helvetica Neue"/>
                <a:ea typeface="Helvetica Neue"/>
                <a:cs typeface="Helvetica Neue"/>
                <a:sym typeface="Helvetica Neue"/>
              </a:rPr>
              <a:t>Statistics:</a:t>
            </a:r>
            <a:endParaRPr sz="1600" b="1">
              <a:solidFill>
                <a:srgbClr val="0000FF"/>
              </a:solidFill>
              <a:highlight>
                <a:srgbClr val="FFFFFF"/>
              </a:highlight>
              <a:latin typeface="Helvetica Neue"/>
              <a:ea typeface="Helvetica Neue"/>
              <a:cs typeface="Helvetica Neue"/>
              <a:sym typeface="Helvetica Neue"/>
            </a:endParaRPr>
          </a:p>
          <a:p>
            <a:pPr marL="457200" lvl="0" indent="-330200" algn="l" rtl="0">
              <a:lnSpc>
                <a:spcPct val="115000"/>
              </a:lnSpc>
              <a:spcBef>
                <a:spcPts val="1000"/>
              </a:spcBef>
              <a:spcAft>
                <a:spcPts val="0"/>
              </a:spcAft>
              <a:buSzPts val="1600"/>
              <a:buFont typeface="Helvetica Neue"/>
              <a:buChar char="-"/>
            </a:pPr>
            <a:r>
              <a:rPr lang="en" sz="1600">
                <a:highlight>
                  <a:schemeClr val="lt1"/>
                </a:highlight>
                <a:latin typeface="Helvetica Neue"/>
                <a:ea typeface="Helvetica Neue"/>
                <a:cs typeface="Helvetica Neue"/>
                <a:sym typeface="Helvetica Neue"/>
              </a:rPr>
              <a:t>This particular example has 20 dimensions, 7201 samples and all unlabelled data marked as ‘normal’, ie 0.</a:t>
            </a:r>
            <a:endParaRPr sz="1600">
              <a:solidFill>
                <a:srgbClr val="0000FF"/>
              </a:solidFill>
              <a:highlight>
                <a:srgbClr val="FFFFFF"/>
              </a:highlight>
              <a:latin typeface="Helvetica Neue"/>
              <a:ea typeface="Helvetica Neue"/>
              <a:cs typeface="Helvetica Neue"/>
              <a:sym typeface="Helvetica Neue"/>
            </a:endParaRPr>
          </a:p>
          <a:p>
            <a:pPr marL="457200" lvl="0" indent="-330200" algn="l" rtl="0">
              <a:lnSpc>
                <a:spcPct val="115000"/>
              </a:lnSpc>
              <a:spcBef>
                <a:spcPts val="0"/>
              </a:spcBef>
              <a:spcAft>
                <a:spcPts val="0"/>
              </a:spcAft>
              <a:buClr>
                <a:srgbClr val="0000FF"/>
              </a:buClr>
              <a:buSzPts val="1600"/>
              <a:buFont typeface="Helvetica Neue"/>
              <a:buChar char="-"/>
            </a:pPr>
            <a:r>
              <a:rPr lang="en" sz="1600">
                <a:highlight>
                  <a:srgbClr val="FFFFFF"/>
                </a:highlight>
                <a:latin typeface="Helvetica Neue"/>
                <a:ea typeface="Helvetica Neue"/>
                <a:cs typeface="Helvetica Neue"/>
                <a:sym typeface="Helvetica Neue"/>
              </a:rPr>
              <a:t>Heavy class imbalance → </a:t>
            </a:r>
            <a:r>
              <a:rPr lang="en" sz="1600" b="1">
                <a:solidFill>
                  <a:schemeClr val="dk1"/>
                </a:solidFill>
                <a:highlight>
                  <a:srgbClr val="00FF00"/>
                </a:highlight>
                <a:latin typeface="Helvetica Neue"/>
                <a:ea typeface="Helvetica Neue"/>
                <a:cs typeface="Helvetica Neue"/>
                <a:sym typeface="Helvetica Neue"/>
              </a:rPr>
              <a:t> </a:t>
            </a:r>
            <a:r>
              <a:rPr lang="en" sz="1050" b="1">
                <a:solidFill>
                  <a:schemeClr val="dk1"/>
                </a:solidFill>
                <a:highlight>
                  <a:srgbClr val="00FF00"/>
                </a:highlight>
                <a:latin typeface="Courier New"/>
                <a:ea typeface="Courier New"/>
                <a:cs typeface="Courier New"/>
                <a:sym typeface="Courier New"/>
              </a:rPr>
              <a:t>7.42% of 1s</a:t>
            </a:r>
            <a:endParaRPr sz="1600" b="1">
              <a:solidFill>
                <a:schemeClr val="dk1"/>
              </a:solidFill>
              <a:highlight>
                <a:srgbClr val="00FF00"/>
              </a:highlight>
              <a:latin typeface="Helvetica Neue"/>
              <a:ea typeface="Helvetica Neue"/>
              <a:cs typeface="Helvetica Neue"/>
              <a:sym typeface="Helvetica Neue"/>
            </a:endParaRPr>
          </a:p>
          <a:p>
            <a:pPr marL="457200" lvl="0" indent="-330200" algn="l" rtl="0">
              <a:lnSpc>
                <a:spcPct val="115000"/>
              </a:lnSpc>
              <a:spcBef>
                <a:spcPts val="0"/>
              </a:spcBef>
              <a:spcAft>
                <a:spcPts val="0"/>
              </a:spcAft>
              <a:buClr>
                <a:srgbClr val="0000FF"/>
              </a:buClr>
              <a:buSzPts val="1600"/>
              <a:buFont typeface="Helvetica Neue"/>
              <a:buChar char="-"/>
            </a:pPr>
            <a:r>
              <a:rPr lang="en" sz="1600">
                <a:solidFill>
                  <a:srgbClr val="0000FF"/>
                </a:solidFill>
                <a:highlight>
                  <a:srgbClr val="FFFFFF"/>
                </a:highlight>
                <a:latin typeface="Helvetica Neue"/>
                <a:ea typeface="Helvetica Neue"/>
                <a:cs typeface="Helvetica Neue"/>
                <a:sym typeface="Helvetica Neue"/>
              </a:rPr>
              <a:t>Dataset source </a:t>
            </a:r>
            <a:r>
              <a:rPr lang="en" sz="1600">
                <a:highlight>
                  <a:srgbClr val="FFFFFF"/>
                </a:highlight>
                <a:latin typeface="Helvetica Neue"/>
                <a:ea typeface="Helvetica Neue"/>
                <a:cs typeface="Helvetica Neue"/>
                <a:sym typeface="Helvetica Neue"/>
              </a:rPr>
              <a:t>→  https://github.com/GuansongPang/deviation-network/tree/master/dataset</a:t>
            </a:r>
            <a:endParaRPr sz="1600">
              <a:solidFill>
                <a:srgbClr val="0000FF"/>
              </a:solidFill>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endParaRPr sz="1600">
              <a:solidFill>
                <a:srgbClr val="0000FF"/>
              </a:solidFill>
              <a:highlight>
                <a:srgbClr val="FFFFFF"/>
              </a:highlight>
              <a:latin typeface="Helvetica Neue"/>
              <a:ea typeface="Helvetica Neue"/>
              <a:cs typeface="Helvetica Neue"/>
              <a:sym typeface="Helvetica Neue"/>
            </a:endParaRPr>
          </a:p>
          <a:p>
            <a:pPr marL="0" lvl="0" indent="0" algn="l" rtl="0">
              <a:spcBef>
                <a:spcPts val="1000"/>
              </a:spcBef>
              <a:spcAft>
                <a:spcPts val="0"/>
              </a:spcAft>
              <a:buNone/>
            </a:pPr>
            <a:endParaRPr sz="1600" b="1">
              <a:solidFill>
                <a:srgbClr val="0000FF"/>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3"/>
          <p:cNvSpPr txBox="1">
            <a:spLocks noGrp="1"/>
          </p:cNvSpPr>
          <p:nvPr>
            <p:ph type="title"/>
          </p:nvPr>
        </p:nvSpPr>
        <p:spPr>
          <a:xfrm>
            <a:off x="457200" y="205978"/>
            <a:ext cx="8229600" cy="8574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Isolation Forest Baseline</a:t>
            </a:r>
            <a:endParaRPr/>
          </a:p>
        </p:txBody>
      </p:sp>
      <p:sp>
        <p:nvSpPr>
          <p:cNvPr id="148" name="Google Shape;148;p33"/>
          <p:cNvSpPr txBox="1">
            <a:spLocks noGrp="1"/>
          </p:cNvSpPr>
          <p:nvPr>
            <p:ph type="body" idx="1"/>
          </p:nvPr>
        </p:nvSpPr>
        <p:spPr>
          <a:xfrm>
            <a:off x="457200" y="1200150"/>
            <a:ext cx="8229600" cy="33945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a:t>Results:</a:t>
            </a:r>
            <a:endParaRPr/>
          </a:p>
          <a:p>
            <a:pPr marL="0" lvl="0" indent="0" algn="l" rtl="0">
              <a:spcBef>
                <a:spcPts val="480"/>
              </a:spcBef>
              <a:spcAft>
                <a:spcPts val="0"/>
              </a:spcAft>
              <a:buNone/>
            </a:pPr>
            <a:endParaRPr/>
          </a:p>
          <a:p>
            <a:pPr marL="0" lvl="0" indent="0" algn="l" rtl="0">
              <a:spcBef>
                <a:spcPts val="480"/>
              </a:spcBef>
              <a:spcAft>
                <a:spcPts val="0"/>
              </a:spcAft>
              <a:buNone/>
            </a:pPr>
            <a:endParaRPr/>
          </a:p>
          <a:p>
            <a:pPr marL="0" lvl="0" indent="0" algn="l" rtl="0">
              <a:spcBef>
                <a:spcPts val="480"/>
              </a:spcBef>
              <a:spcAft>
                <a:spcPts val="0"/>
              </a:spcAft>
              <a:buNone/>
            </a:pPr>
            <a:endParaRPr/>
          </a:p>
          <a:p>
            <a:pPr marL="0" lvl="0" indent="0" algn="l" rtl="0">
              <a:spcBef>
                <a:spcPts val="480"/>
              </a:spcBef>
              <a:spcAft>
                <a:spcPts val="0"/>
              </a:spcAft>
              <a:buNone/>
            </a:pPr>
            <a:endParaRPr/>
          </a:p>
          <a:p>
            <a:pPr marL="0" lvl="0" indent="0" algn="l" rtl="0">
              <a:spcBef>
                <a:spcPts val="480"/>
              </a:spcBef>
              <a:spcAft>
                <a:spcPts val="0"/>
              </a:spcAft>
              <a:buNone/>
            </a:pPr>
            <a:endParaRPr sz="1600"/>
          </a:p>
          <a:p>
            <a:pPr marL="0" lvl="0" indent="0" algn="l" rtl="0">
              <a:spcBef>
                <a:spcPts val="480"/>
              </a:spcBef>
              <a:spcAft>
                <a:spcPts val="0"/>
              </a:spcAft>
              <a:buNone/>
            </a:pPr>
            <a:r>
              <a:rPr lang="en" sz="1600"/>
              <a:t>Isolation forest uses decision trees to detect anomalies by isolating observations and any new input runs through these trees to get to an existing leaf node(1 original datapoint). If </a:t>
            </a:r>
            <a:endParaRPr sz="1600"/>
          </a:p>
        </p:txBody>
      </p:sp>
      <p:pic>
        <p:nvPicPr>
          <p:cNvPr id="149" name="Google Shape;149;p33"/>
          <p:cNvPicPr preferRelativeResize="0"/>
          <p:nvPr/>
        </p:nvPicPr>
        <p:blipFill>
          <a:blip r:embed="rId3">
            <a:alphaModFix/>
          </a:blip>
          <a:stretch>
            <a:fillRect/>
          </a:stretch>
        </p:blipFill>
        <p:spPr>
          <a:xfrm>
            <a:off x="604838" y="1652588"/>
            <a:ext cx="7934325" cy="183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4"/>
          <p:cNvSpPr txBox="1">
            <a:spLocks noGrp="1"/>
          </p:cNvSpPr>
          <p:nvPr>
            <p:ph type="title"/>
          </p:nvPr>
        </p:nvSpPr>
        <p:spPr>
          <a:xfrm>
            <a:off x="457200" y="594175"/>
            <a:ext cx="8229600" cy="113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sz="3000" b="1"/>
              <a:t>DevNet 1/4</a:t>
            </a:r>
            <a:endParaRPr sz="3000" b="1"/>
          </a:p>
          <a:p>
            <a:pPr marL="0" lvl="0" indent="0" algn="l" rtl="0">
              <a:lnSpc>
                <a:spcPct val="100000"/>
              </a:lnSpc>
              <a:spcBef>
                <a:spcPts val="0"/>
              </a:spcBef>
              <a:spcAft>
                <a:spcPts val="0"/>
              </a:spcAft>
              <a:buSzPts val="1400"/>
              <a:buNone/>
            </a:pPr>
            <a:endParaRPr b="1"/>
          </a:p>
        </p:txBody>
      </p:sp>
      <p:sp>
        <p:nvSpPr>
          <p:cNvPr id="155" name="Google Shape;155;p34"/>
          <p:cNvSpPr txBox="1">
            <a:spLocks noGrp="1"/>
          </p:cNvSpPr>
          <p:nvPr>
            <p:ph type="body" idx="1"/>
          </p:nvPr>
        </p:nvSpPr>
        <p:spPr>
          <a:xfrm>
            <a:off x="457200" y="503475"/>
            <a:ext cx="8229600" cy="4456500"/>
          </a:xfrm>
          <a:prstGeom prst="rect">
            <a:avLst/>
          </a:prstGeom>
          <a:noFill/>
          <a:ln>
            <a:noFill/>
          </a:ln>
        </p:spPr>
        <p:txBody>
          <a:bodyPr spcFirstLastPara="1" wrap="square" lIns="91425" tIns="45700" rIns="91425" bIns="45700" anchor="t" anchorCtr="0">
            <a:noAutofit/>
          </a:bodyPr>
          <a:lstStyle/>
          <a:p>
            <a:pPr marL="457200" lvl="0" indent="-317500" algn="l" rtl="0">
              <a:lnSpc>
                <a:spcPct val="115000"/>
              </a:lnSpc>
              <a:spcBef>
                <a:spcPts val="1000"/>
              </a:spcBef>
              <a:spcAft>
                <a:spcPts val="0"/>
              </a:spcAft>
              <a:buClr>
                <a:srgbClr val="0000FF"/>
              </a:buClr>
              <a:buSzPts val="1400"/>
              <a:buFont typeface="Helvetica Neue"/>
              <a:buChar char="•"/>
            </a:pPr>
            <a:r>
              <a:rPr lang="en" sz="1400">
                <a:highlight>
                  <a:srgbClr val="FFFFFF"/>
                </a:highlight>
                <a:latin typeface="Helvetica Neue"/>
                <a:ea typeface="Helvetica Neue"/>
                <a:cs typeface="Helvetica Neue"/>
                <a:sym typeface="Helvetica Neue"/>
              </a:rPr>
              <a:t>MODEL DESCRIPTION: </a:t>
            </a:r>
            <a:endParaRPr sz="1400">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1. </a:t>
            </a:r>
            <a:r>
              <a:rPr lang="en" sz="1100" b="1">
                <a:solidFill>
                  <a:srgbClr val="FF0000"/>
                </a:solidFill>
                <a:highlight>
                  <a:srgbClr val="FFFFFF"/>
                </a:highlight>
                <a:latin typeface="Helvetica Neue"/>
                <a:ea typeface="Helvetica Neue"/>
                <a:cs typeface="Helvetica Neue"/>
                <a:sym typeface="Helvetica Neue"/>
              </a:rPr>
              <a:t>Data Preparation</a:t>
            </a:r>
            <a:r>
              <a:rPr lang="en" sz="1100">
                <a:solidFill>
                  <a:srgbClr val="FF0000"/>
                </a:solidFill>
                <a:highlight>
                  <a:srgbClr val="FFFFFF"/>
                </a:highlight>
                <a:latin typeface="Helvetica Neue"/>
                <a:ea typeface="Helvetica Neue"/>
                <a:cs typeface="Helvetica Neue"/>
                <a:sym typeface="Helvetica Neue"/>
              </a:rPr>
              <a:t> : Combine a large unlabeled dataset (mostly normal examples) with a tiny set of truly anomalous samples.  </a:t>
            </a:r>
            <a:endParaRPr sz="1100">
              <a:solidFill>
                <a:srgbClr val="FF0000"/>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Shuffle and batch so that each training batch contains half “known anomalies” and half presumed-normal points.</a:t>
            </a:r>
            <a:endParaRPr sz="1100">
              <a:solidFill>
                <a:srgbClr val="FF0000"/>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2.</a:t>
            </a:r>
            <a:r>
              <a:rPr lang="en" sz="1100" b="1">
                <a:solidFill>
                  <a:srgbClr val="FF0000"/>
                </a:solidFill>
                <a:highlight>
                  <a:srgbClr val="FFFFFF"/>
                </a:highlight>
                <a:latin typeface="Helvetica Neue"/>
                <a:ea typeface="Helvetica Neue"/>
                <a:cs typeface="Helvetica Neue"/>
                <a:sym typeface="Helvetica Neue"/>
              </a:rPr>
              <a:t> Reference Sampling</a:t>
            </a:r>
            <a:r>
              <a:rPr lang="en" sz="1100">
                <a:solidFill>
                  <a:srgbClr val="FF0000"/>
                </a:solidFill>
                <a:highlight>
                  <a:srgbClr val="FFFFFF"/>
                </a:highlight>
                <a:latin typeface="Helvetica Neue"/>
                <a:ea typeface="Helvetica Neue"/>
                <a:cs typeface="Helvetica Neue"/>
                <a:sym typeface="Helvetica Neue"/>
              </a:rPr>
              <a:t> :  Every batch, DevNet draws a fresh set of random numbers from a standard Normal distribution.  These serve simply as a “yardstick” to tell us what zero-mean, unit-variance behavior looks like.</a:t>
            </a:r>
            <a:endParaRPr sz="1100">
              <a:solidFill>
                <a:srgbClr val="FF0000"/>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3. </a:t>
            </a:r>
            <a:r>
              <a:rPr lang="en" sz="1100" b="1">
                <a:solidFill>
                  <a:srgbClr val="FF0000"/>
                </a:solidFill>
                <a:highlight>
                  <a:srgbClr val="FFFFFF"/>
                </a:highlight>
                <a:latin typeface="Helvetica Neue"/>
                <a:ea typeface="Helvetica Neue"/>
                <a:cs typeface="Helvetica Neue"/>
                <a:sym typeface="Helvetica Neue"/>
              </a:rPr>
              <a:t>Forward Pass</a:t>
            </a:r>
            <a:r>
              <a:rPr lang="en" sz="1100">
                <a:solidFill>
                  <a:srgbClr val="FF0000"/>
                </a:solidFill>
                <a:highlight>
                  <a:srgbClr val="FFFFFF"/>
                </a:highlight>
                <a:latin typeface="Helvetica Neue"/>
                <a:ea typeface="Helvetica Neue"/>
                <a:cs typeface="Helvetica Neue"/>
                <a:sym typeface="Helvetica Neue"/>
              </a:rPr>
              <a:t> : Encoder (feature extractor) :  one or two fully-connected layers giving final lower dimension features.</a:t>
            </a:r>
            <a:endParaRPr sz="1100">
              <a:solidFill>
                <a:srgbClr val="FF0000"/>
              </a:solidFill>
              <a:highlight>
                <a:srgbClr val="FFFFFF"/>
              </a:highlight>
              <a:latin typeface="Helvetica Neue"/>
              <a:ea typeface="Helvetica Neue"/>
              <a:cs typeface="Helvetica Neue"/>
              <a:sym typeface="Helvetica Neue"/>
            </a:endParaRPr>
          </a:p>
          <a:p>
            <a:pPr marL="914400" lvl="0" indent="0" algn="l" rtl="0">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     Scoring head(a single linear neuron on top of those features) : Its raw output is the “anomaly score.”</a:t>
            </a:r>
            <a:endParaRPr sz="1100">
              <a:solidFill>
                <a:srgbClr val="FF0000"/>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4. </a:t>
            </a:r>
            <a:r>
              <a:rPr lang="en" sz="1100" b="1">
                <a:solidFill>
                  <a:srgbClr val="FF0000"/>
                </a:solidFill>
                <a:highlight>
                  <a:schemeClr val="lt1"/>
                </a:highlight>
                <a:latin typeface="Helvetica Neue"/>
                <a:ea typeface="Helvetica Neue"/>
                <a:cs typeface="Helvetica Neue"/>
                <a:sym typeface="Helvetica Neue"/>
              </a:rPr>
              <a:t>Deviation Computation </a:t>
            </a:r>
            <a:r>
              <a:rPr lang="en" sz="1100">
                <a:solidFill>
                  <a:srgbClr val="FF0000"/>
                </a:solidFill>
                <a:highlight>
                  <a:schemeClr val="lt1"/>
                </a:highlight>
                <a:latin typeface="Helvetica Neue"/>
                <a:ea typeface="Helvetica Neue"/>
                <a:cs typeface="Helvetica Neue"/>
                <a:sym typeface="Helvetica Neue"/>
              </a:rPr>
              <a:t>:  It measures how far each score is from the random-sample average, in “standard-deviation units.”  </a:t>
            </a:r>
            <a:endParaRPr sz="1100">
              <a:solidFill>
                <a:srgbClr val="FF0000"/>
              </a:solidFill>
              <a:highlight>
                <a:schemeClr val="lt1"/>
              </a:highlight>
              <a:latin typeface="Helvetica Neue"/>
              <a:ea typeface="Helvetica Neue"/>
              <a:cs typeface="Helvetica Neue"/>
              <a:sym typeface="Helvetica Neue"/>
            </a:endParaRPr>
          </a:p>
          <a:p>
            <a:pPr marL="1371600" lvl="0" indent="0" algn="l" rtl="0">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          In code, you subtract the sample mean and divide by the sample standard deviation.</a:t>
            </a:r>
            <a:endParaRPr sz="1100">
              <a:solidFill>
                <a:srgbClr val="FF0000"/>
              </a:solidFill>
              <a:highlight>
                <a:schemeClr val="lt1"/>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5. </a:t>
            </a:r>
            <a:r>
              <a:rPr lang="en" sz="1100" b="1">
                <a:solidFill>
                  <a:srgbClr val="FF0000"/>
                </a:solidFill>
                <a:highlight>
                  <a:schemeClr val="lt1"/>
                </a:highlight>
                <a:latin typeface="Helvetica Neue"/>
                <a:ea typeface="Helvetica Neue"/>
                <a:cs typeface="Helvetica Neue"/>
                <a:sym typeface="Helvetica Neue"/>
              </a:rPr>
              <a:t>Deviation Loss</a:t>
            </a:r>
            <a:r>
              <a:rPr lang="en" sz="1100">
                <a:solidFill>
                  <a:srgbClr val="FF0000"/>
                </a:solidFill>
                <a:highlight>
                  <a:schemeClr val="lt1"/>
                </a:highlight>
                <a:latin typeface="Helvetica Neue"/>
                <a:ea typeface="Helvetica Neue"/>
                <a:cs typeface="Helvetica Neue"/>
                <a:sym typeface="Helvetica Neue"/>
              </a:rPr>
              <a:t> : Normal samples are penalized whenever their score drifts too far from zero—DevNet wants “normal” points to stay near that reference baseline. Known anomalies are penalized whenever their score falls below a pre-set margin (typically 5 “sigmas”). In practice this margin ensures the network learns to push anomaly scores high.</a:t>
            </a:r>
            <a:endParaRPr sz="1100">
              <a:solidFill>
                <a:srgbClr val="FF0000"/>
              </a:solidFill>
              <a:highlight>
                <a:schemeClr val="lt1"/>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6.</a:t>
            </a:r>
            <a:r>
              <a:rPr lang="en" sz="1100" b="1">
                <a:solidFill>
                  <a:srgbClr val="FF0000"/>
                </a:solidFill>
                <a:highlight>
                  <a:schemeClr val="lt1"/>
                </a:highlight>
                <a:latin typeface="Helvetica Neue"/>
                <a:ea typeface="Helvetica Neue"/>
                <a:cs typeface="Helvetica Neue"/>
                <a:sym typeface="Helvetica Neue"/>
              </a:rPr>
              <a:t> Backward Pass &amp; Update</a:t>
            </a:r>
            <a:r>
              <a:rPr lang="en" sz="1100">
                <a:solidFill>
                  <a:srgbClr val="FF0000"/>
                </a:solidFill>
                <a:highlight>
                  <a:schemeClr val="lt1"/>
                </a:highlight>
                <a:latin typeface="Helvetica Neue"/>
                <a:ea typeface="Helvetica Neue"/>
                <a:cs typeface="Helvetica Neue"/>
                <a:sym typeface="Helvetica Neue"/>
              </a:rPr>
              <a:t> : Standard optimizers like Adam or RMSProp update both the encoder and scoring head together,  using that single “deviation loss” function.</a:t>
            </a:r>
            <a:endParaRPr sz="1100">
              <a:solidFill>
                <a:srgbClr val="FF0000"/>
              </a:solidFill>
              <a:highlight>
                <a:schemeClr val="lt1"/>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7. </a:t>
            </a:r>
            <a:r>
              <a:rPr lang="en" sz="1100" b="1">
                <a:solidFill>
                  <a:srgbClr val="FF0000"/>
                </a:solidFill>
                <a:highlight>
                  <a:schemeClr val="lt1"/>
                </a:highlight>
                <a:latin typeface="Helvetica Neue"/>
                <a:ea typeface="Helvetica Neue"/>
                <a:cs typeface="Helvetica Neue"/>
                <a:sym typeface="Helvetica Neue"/>
              </a:rPr>
              <a:t>Interpretability</a:t>
            </a:r>
            <a:r>
              <a:rPr lang="en" sz="1100">
                <a:solidFill>
                  <a:srgbClr val="FF0000"/>
                </a:solidFill>
                <a:highlight>
                  <a:schemeClr val="lt1"/>
                </a:highlight>
                <a:latin typeface="Helvetica Neue"/>
                <a:ea typeface="Helvetica Neue"/>
                <a:cs typeface="Helvetica Neue"/>
                <a:sym typeface="Helvetica Neue"/>
              </a:rPr>
              <a:t> : Because you’re always comparing against a unit Normal reference, you can interpret DevNet’s outputs exactly like a Z-score:  a score of 2 means “two standard deviations above normal,” which corresponds roughly to the top 2.5% of any Normal distribution.</a:t>
            </a:r>
            <a:endParaRPr sz="1100">
              <a:solidFill>
                <a:srgbClr val="FF0000"/>
              </a:solidFill>
              <a:highlight>
                <a:schemeClr val="lt1"/>
              </a:highlight>
              <a:latin typeface="Helvetica Neue"/>
              <a:ea typeface="Helvetica Neue"/>
              <a:cs typeface="Helvetica Neue"/>
              <a:sym typeface="Helvetica Neue"/>
            </a:endParaRPr>
          </a:p>
          <a:p>
            <a:pPr marL="0" lvl="0" indent="0" algn="l" rtl="0">
              <a:lnSpc>
                <a:spcPct val="115000"/>
              </a:lnSpc>
              <a:spcBef>
                <a:spcPts val="1000"/>
              </a:spcBef>
              <a:spcAft>
                <a:spcPts val="0"/>
              </a:spcAft>
              <a:buClr>
                <a:schemeClr val="dk1"/>
              </a:buClr>
              <a:buSzPts val="1100"/>
              <a:buFont typeface="Arial"/>
              <a:buNone/>
            </a:pPr>
            <a:endParaRPr sz="1100">
              <a:solidFill>
                <a:srgbClr val="333333"/>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Clr>
                <a:schemeClr val="dk1"/>
              </a:buClr>
              <a:buSzPts val="1100"/>
              <a:buFont typeface="Arial"/>
              <a:buNone/>
            </a:pPr>
            <a:endParaRPr sz="1100">
              <a:solidFill>
                <a:srgbClr val="333333"/>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1000"/>
              </a:spcAft>
              <a:buNone/>
            </a:pPr>
            <a:endParaRPr sz="1100">
              <a:solidFill>
                <a:srgbClr val="333333"/>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DevNet 2/4</a:t>
            </a:r>
            <a:endParaRPr b="1"/>
          </a:p>
        </p:txBody>
      </p:sp>
      <p:sp>
        <p:nvSpPr>
          <p:cNvPr id="161" name="Google Shape;161;p35"/>
          <p:cNvSpPr txBox="1">
            <a:spLocks noGrp="1"/>
          </p:cNvSpPr>
          <p:nvPr>
            <p:ph type="body" idx="1"/>
          </p:nvPr>
        </p:nvSpPr>
        <p:spPr>
          <a:xfrm>
            <a:off x="457200" y="1149800"/>
            <a:ext cx="3673500" cy="3403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endParaRPr sz="1400">
              <a:solidFill>
                <a:schemeClr val="dk1"/>
              </a:solidFill>
            </a:endParaRPr>
          </a:p>
          <a:p>
            <a:pPr marL="0" lvl="0" indent="0" algn="l" rtl="0">
              <a:lnSpc>
                <a:spcPct val="115000"/>
              </a:lnSpc>
              <a:spcBef>
                <a:spcPts val="1000"/>
              </a:spcBef>
              <a:spcAft>
                <a:spcPts val="1000"/>
              </a:spcAft>
              <a:buNone/>
            </a:pPr>
            <a:r>
              <a:rPr lang="en" sz="1400">
                <a:solidFill>
                  <a:schemeClr val="dk1"/>
                </a:solidFill>
              </a:rPr>
              <a:t>This is the mathematical overview of the network. </a:t>
            </a:r>
            <a:r>
              <a:rPr lang="en" sz="1400" b="1">
                <a:solidFill>
                  <a:schemeClr val="dk1"/>
                </a:solidFill>
              </a:rPr>
              <a:t>μ</a:t>
            </a:r>
            <a:r>
              <a:rPr lang="en" sz="1400" b="1" baseline="-25000">
                <a:solidFill>
                  <a:schemeClr val="dk1"/>
                </a:solidFill>
              </a:rPr>
              <a:t>R</a:t>
            </a:r>
            <a:r>
              <a:rPr lang="en" sz="1400" b="1">
                <a:solidFill>
                  <a:schemeClr val="dk1"/>
                </a:solidFill>
              </a:rPr>
              <a:t> </a:t>
            </a:r>
            <a:r>
              <a:rPr lang="en" sz="1400">
                <a:solidFill>
                  <a:schemeClr val="dk1"/>
                </a:solidFill>
              </a:rPr>
              <a:t>and </a:t>
            </a:r>
            <a:r>
              <a:rPr lang="en" sz="1400" b="1">
                <a:solidFill>
                  <a:schemeClr val="dk1"/>
                </a:solidFill>
              </a:rPr>
              <a:t>σ</a:t>
            </a:r>
            <a:r>
              <a:rPr lang="en" sz="1400" b="1" baseline="-25000">
                <a:solidFill>
                  <a:schemeClr val="dk1"/>
                </a:solidFill>
              </a:rPr>
              <a:t>R</a:t>
            </a:r>
            <a:r>
              <a:rPr lang="en" sz="1400" b="1">
                <a:solidFill>
                  <a:schemeClr val="dk1"/>
                </a:solidFill>
              </a:rPr>
              <a:t> </a:t>
            </a:r>
            <a:r>
              <a:rPr lang="en" sz="1400">
                <a:solidFill>
                  <a:schemeClr val="dk1"/>
                </a:solidFill>
              </a:rPr>
              <a:t>are derived from the prior distribution of N(0,1). The anomaly score as the output of the final neuron of the neural network can be used to determine whether a sample is an anomaly or is a normal data point.</a:t>
            </a:r>
            <a:endParaRPr sz="1400" baseline="-25000">
              <a:solidFill>
                <a:schemeClr val="dk1"/>
              </a:solidFill>
            </a:endParaRPr>
          </a:p>
        </p:txBody>
      </p:sp>
      <p:pic>
        <p:nvPicPr>
          <p:cNvPr id="162" name="Google Shape;162;p35" title="Screenshot 2025-05-03 205304.png"/>
          <p:cNvPicPr preferRelativeResize="0"/>
          <p:nvPr/>
        </p:nvPicPr>
        <p:blipFill>
          <a:blip r:embed="rId3">
            <a:alphaModFix/>
          </a:blip>
          <a:stretch>
            <a:fillRect/>
          </a:stretch>
        </p:blipFill>
        <p:spPr>
          <a:xfrm>
            <a:off x="4130725" y="933925"/>
            <a:ext cx="5013276" cy="38449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DevNet 3/4</a:t>
            </a:r>
            <a:endParaRPr b="1"/>
          </a:p>
        </p:txBody>
      </p:sp>
      <p:sp>
        <p:nvSpPr>
          <p:cNvPr id="168" name="Google Shape;168;p36"/>
          <p:cNvSpPr txBox="1">
            <a:spLocks noGrp="1"/>
          </p:cNvSpPr>
          <p:nvPr>
            <p:ph type="body" idx="1"/>
          </p:nvPr>
        </p:nvSpPr>
        <p:spPr>
          <a:xfrm>
            <a:off x="457200" y="1159150"/>
            <a:ext cx="8229600" cy="3725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 sz="1800">
                <a:highlight>
                  <a:srgbClr val="FFFFFF"/>
                </a:highlight>
                <a:latin typeface="Helvetica Neue"/>
                <a:ea typeface="Helvetica Neue"/>
                <a:cs typeface="Helvetica Neue"/>
                <a:sym typeface="Helvetica Neue"/>
              </a:rPr>
              <a:t>Implementation Details:</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1000"/>
              </a:spcBef>
              <a:spcAft>
                <a:spcPts val="0"/>
              </a:spcAft>
              <a:buSzPts val="1800"/>
              <a:buFont typeface="Helvetica Neue"/>
              <a:buAutoNum type="arabicPeriod"/>
            </a:pPr>
            <a:r>
              <a:rPr lang="en" sz="1800">
                <a:highlight>
                  <a:srgbClr val="FFFFFF"/>
                </a:highlight>
                <a:latin typeface="Helvetica Neue"/>
                <a:ea typeface="Helvetica Neue"/>
                <a:cs typeface="Helvetica Neue"/>
                <a:sym typeface="Helvetica Neue"/>
              </a:rPr>
              <a:t>Libraries: os, pandas, numpy, joblib, sklearn and tensorflow.</a:t>
            </a:r>
            <a:endParaRPr sz="1800">
              <a:highlight>
                <a:srgbClr val="FFFFFF"/>
              </a:highlight>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AutoNum type="alphaLcPeriod"/>
            </a:pPr>
            <a:r>
              <a:rPr lang="en" sz="1800">
                <a:highlight>
                  <a:srgbClr val="FFFFFF"/>
                </a:highlight>
                <a:latin typeface="Helvetica Neue"/>
                <a:ea typeface="Helvetica Neue"/>
                <a:cs typeface="Helvetica Neue"/>
                <a:sym typeface="Helvetica Neue"/>
              </a:rPr>
              <a:t>Os, joblib and pandas for data handling and reading.</a:t>
            </a:r>
            <a:endParaRPr sz="1800">
              <a:highlight>
                <a:srgbClr val="FFFFFF"/>
              </a:highlight>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AutoNum type="alphaLcPeriod"/>
            </a:pPr>
            <a:r>
              <a:rPr lang="en" sz="1800">
                <a:highlight>
                  <a:srgbClr val="FFFFFF"/>
                </a:highlight>
                <a:latin typeface="Helvetica Neue"/>
                <a:ea typeface="Helvetica Neue"/>
                <a:cs typeface="Helvetica Neue"/>
                <a:sym typeface="Helvetica Neue"/>
              </a:rPr>
              <a:t>Numpy for calculations over vectorized data.</a:t>
            </a:r>
            <a:endParaRPr sz="1800">
              <a:highlight>
                <a:srgbClr val="FFFFFF"/>
              </a:highlight>
              <a:latin typeface="Helvetica Neue"/>
              <a:ea typeface="Helvetica Neue"/>
              <a:cs typeface="Helvetica Neue"/>
              <a:sym typeface="Helvetica Neue"/>
            </a:endParaRPr>
          </a:p>
          <a:p>
            <a:pPr marL="914400" lvl="1" indent="-342900" algn="l" rtl="0">
              <a:lnSpc>
                <a:spcPct val="115000"/>
              </a:lnSpc>
              <a:spcBef>
                <a:spcPts val="0"/>
              </a:spcBef>
              <a:spcAft>
                <a:spcPts val="0"/>
              </a:spcAft>
              <a:buSzPts val="1800"/>
              <a:buFont typeface="Helvetica Neue"/>
              <a:buAutoNum type="alphaLcPeriod"/>
            </a:pPr>
            <a:r>
              <a:rPr lang="en" sz="1800">
                <a:highlight>
                  <a:srgbClr val="FFFFFF"/>
                </a:highlight>
                <a:latin typeface="Helvetica Neue"/>
                <a:ea typeface="Helvetica Neue"/>
                <a:cs typeface="Helvetica Neue"/>
                <a:sym typeface="Helvetica Neue"/>
              </a:rPr>
              <a:t>Sklearn and tensorflow for the main machine learning applications.</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AutoNum type="arabicPeriod"/>
            </a:pPr>
            <a:r>
              <a:rPr lang="en" sz="1800">
                <a:highlight>
                  <a:srgbClr val="FFFFFF"/>
                </a:highlight>
                <a:latin typeface="Helvetica Neue"/>
                <a:ea typeface="Helvetica Neue"/>
                <a:cs typeface="Helvetica Neue"/>
                <a:sym typeface="Helvetica Neue"/>
              </a:rPr>
              <a:t>Functions and their purposes:</a:t>
            </a:r>
            <a:endParaRPr sz="1800">
              <a:highlight>
                <a:srgbClr val="FFFFFF"/>
              </a:highlight>
              <a:latin typeface="Helvetica Neue"/>
              <a:ea typeface="Helvetica Neue"/>
              <a:cs typeface="Helvetica Neue"/>
              <a:sym typeface="Helvetica Neue"/>
            </a:endParaRPr>
          </a:p>
          <a:p>
            <a:pPr marL="914400" lvl="1" indent="-323850" algn="l" rtl="0">
              <a:lnSpc>
                <a:spcPct val="115000"/>
              </a:lnSpc>
              <a:spcBef>
                <a:spcPts val="0"/>
              </a:spcBef>
              <a:spcAft>
                <a:spcPts val="0"/>
              </a:spcAft>
              <a:buSzPts val="1500"/>
              <a:buFont typeface="Helvetica Neue"/>
              <a:buAutoNum type="alphaLcPeriod"/>
            </a:pPr>
            <a:r>
              <a:rPr lang="en" sz="1500" i="1">
                <a:highlight>
                  <a:srgbClr val="FFFFFF"/>
                </a:highlight>
                <a:latin typeface="Helvetica Neue"/>
                <a:ea typeface="Helvetica Neue"/>
                <a:cs typeface="Helvetica Neue"/>
                <a:sym typeface="Helvetica Neue"/>
              </a:rPr>
              <a:t>dataloading </a:t>
            </a:r>
            <a:r>
              <a:rPr lang="en" sz="1500">
                <a:highlight>
                  <a:srgbClr val="FFFFFF"/>
                </a:highlight>
                <a:latin typeface="Helvetica Neue"/>
                <a:ea typeface="Helvetica Neue"/>
                <a:cs typeface="Helvetica Neue"/>
                <a:sym typeface="Helvetica Neue"/>
              </a:rPr>
              <a:t>: to access data from the directory based on the type of file available.</a:t>
            </a:r>
            <a:endParaRPr sz="1500">
              <a:highlight>
                <a:srgbClr val="FFFFFF"/>
              </a:highlight>
              <a:latin typeface="Helvetica Neue"/>
              <a:ea typeface="Helvetica Neue"/>
              <a:cs typeface="Helvetica Neue"/>
              <a:sym typeface="Helvetica Neue"/>
            </a:endParaRPr>
          </a:p>
          <a:p>
            <a:pPr marL="914400" lvl="1" indent="-323850" algn="l" rtl="0">
              <a:lnSpc>
                <a:spcPct val="115000"/>
              </a:lnSpc>
              <a:spcBef>
                <a:spcPts val="0"/>
              </a:spcBef>
              <a:spcAft>
                <a:spcPts val="0"/>
              </a:spcAft>
              <a:buSzPts val="1500"/>
              <a:buFont typeface="Helvetica Neue"/>
              <a:buAutoNum type="alphaLcPeriod"/>
            </a:pPr>
            <a:r>
              <a:rPr lang="en" sz="1500" i="1">
                <a:highlight>
                  <a:srgbClr val="FFFFFF"/>
                </a:highlight>
                <a:latin typeface="Helvetica Neue"/>
                <a:ea typeface="Helvetica Neue"/>
                <a:cs typeface="Helvetica Neue"/>
                <a:sym typeface="Helvetica Neue"/>
              </a:rPr>
              <a:t>get_data_from_svm_light </a:t>
            </a:r>
            <a:r>
              <a:rPr lang="en" sz="1500">
                <a:highlight>
                  <a:srgbClr val="FFFFFF"/>
                </a:highlight>
                <a:latin typeface="Helvetica Neue"/>
                <a:ea typeface="Helvetica Neue"/>
                <a:cs typeface="Helvetica Neue"/>
                <a:sym typeface="Helvetica Neue"/>
              </a:rPr>
              <a:t>: get data from an svm file.</a:t>
            </a:r>
            <a:endParaRPr sz="1500">
              <a:highlight>
                <a:srgbClr val="FFFFFF"/>
              </a:highlight>
              <a:latin typeface="Helvetica Neue"/>
              <a:ea typeface="Helvetica Neue"/>
              <a:cs typeface="Helvetica Neue"/>
              <a:sym typeface="Helvetica Neue"/>
            </a:endParaRPr>
          </a:p>
          <a:p>
            <a:pPr marL="914400" lvl="1" indent="-323850" algn="l" rtl="0">
              <a:lnSpc>
                <a:spcPct val="115000"/>
              </a:lnSpc>
              <a:spcBef>
                <a:spcPts val="0"/>
              </a:spcBef>
              <a:spcAft>
                <a:spcPts val="0"/>
              </a:spcAft>
              <a:buSzPts val="1500"/>
              <a:buFont typeface="Helvetica Neue"/>
              <a:buAutoNum type="alphaLcPeriod"/>
            </a:pPr>
            <a:r>
              <a:rPr lang="en" sz="1500" i="1">
                <a:highlight>
                  <a:srgbClr val="FFFFFF"/>
                </a:highlight>
                <a:latin typeface="Helvetica Neue"/>
                <a:ea typeface="Helvetica Neue"/>
                <a:cs typeface="Helvetica Neue"/>
                <a:sym typeface="Helvetica Neue"/>
              </a:rPr>
              <a:t>AUC_Callback </a:t>
            </a:r>
            <a:r>
              <a:rPr lang="en" sz="1500">
                <a:highlight>
                  <a:srgbClr val="FFFFFF"/>
                </a:highlight>
                <a:latin typeface="Helvetica Neue"/>
                <a:ea typeface="Helvetica Neue"/>
                <a:cs typeface="Helvetica Neue"/>
                <a:sym typeface="Helvetica Neue"/>
              </a:rPr>
              <a:t>: Define a custom callback function to get the best AUC-PR value over the epochs.</a:t>
            </a:r>
            <a:endParaRPr sz="1500">
              <a:highlight>
                <a:srgbClr val="FFFFFF"/>
              </a:highlight>
              <a:latin typeface="Helvetica Neue"/>
              <a:ea typeface="Helvetica Neue"/>
              <a:cs typeface="Helvetica Neue"/>
              <a:sym typeface="Helvetica Neue"/>
            </a:endParaRPr>
          </a:p>
          <a:p>
            <a:pPr marL="914400" lvl="1" indent="-323850" algn="l" rtl="0">
              <a:lnSpc>
                <a:spcPct val="115000"/>
              </a:lnSpc>
              <a:spcBef>
                <a:spcPts val="0"/>
              </a:spcBef>
              <a:spcAft>
                <a:spcPts val="0"/>
              </a:spcAft>
              <a:buSzPts val="1500"/>
              <a:buFont typeface="Helvetica Neue"/>
              <a:buAutoNum type="alphaLcPeriod"/>
            </a:pPr>
            <a:r>
              <a:rPr lang="en" sz="1500" i="1">
                <a:highlight>
                  <a:srgbClr val="FFFFFF"/>
                </a:highlight>
                <a:latin typeface="Helvetica Neue"/>
                <a:ea typeface="Helvetica Neue"/>
                <a:cs typeface="Helvetica Neue"/>
                <a:sym typeface="Helvetica Neue"/>
              </a:rPr>
              <a:t>create_deviation_loss</a:t>
            </a:r>
            <a:r>
              <a:rPr lang="en" sz="1500">
                <a:highlight>
                  <a:srgbClr val="FFFFFF"/>
                </a:highlight>
                <a:latin typeface="Helvetica Neue"/>
                <a:ea typeface="Helvetica Neue"/>
                <a:cs typeface="Helvetica Neue"/>
                <a:sym typeface="Helvetica Neue"/>
              </a:rPr>
              <a:t> :  (1 − y)|dev(x)|+y*max(0,a−dev(x)), where dev(x) is the output of the network for x.</a:t>
            </a:r>
            <a:endParaRPr sz="1500">
              <a:highlight>
                <a:srgbClr val="FFFFFF"/>
              </a:highlight>
              <a:latin typeface="Helvetica Neue"/>
              <a:ea typeface="Helvetica Neue"/>
              <a:cs typeface="Helvetica Neue"/>
              <a:sym typeface="Helvetica Neue"/>
            </a:endParaRPr>
          </a:p>
          <a:p>
            <a:pPr marL="914400" lvl="0" indent="0" algn="l" rtl="0">
              <a:lnSpc>
                <a:spcPct val="115000"/>
              </a:lnSpc>
              <a:spcBef>
                <a:spcPts val="1000"/>
              </a:spcBef>
              <a:spcAft>
                <a:spcPts val="1000"/>
              </a:spcAft>
              <a:buNone/>
            </a:pPr>
            <a:endParaRPr sz="1200">
              <a:highlight>
                <a:srgbClr val="FFFFFF"/>
              </a:highlight>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7"/>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DevNet 4/4</a:t>
            </a:r>
            <a:endParaRPr b="1"/>
          </a:p>
        </p:txBody>
      </p:sp>
      <p:sp>
        <p:nvSpPr>
          <p:cNvPr id="174" name="Google Shape;174;p37"/>
          <p:cNvSpPr txBox="1">
            <a:spLocks noGrp="1"/>
          </p:cNvSpPr>
          <p:nvPr>
            <p:ph type="body" idx="1"/>
          </p:nvPr>
        </p:nvSpPr>
        <p:spPr>
          <a:xfrm>
            <a:off x="369725" y="1063375"/>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endParaRPr sz="1800"/>
          </a:p>
          <a:p>
            <a:pPr marL="0" lvl="0" indent="0" algn="l" rtl="0">
              <a:lnSpc>
                <a:spcPct val="115000"/>
              </a:lnSpc>
              <a:spcBef>
                <a:spcPts val="1000"/>
              </a:spcBef>
              <a:spcAft>
                <a:spcPts val="0"/>
              </a:spcAft>
              <a:buNone/>
            </a:pPr>
            <a:r>
              <a:rPr lang="en" sz="1800">
                <a:highlight>
                  <a:schemeClr val="lt1"/>
                </a:highlight>
                <a:latin typeface="Helvetica Neue"/>
                <a:ea typeface="Helvetica Neue"/>
                <a:cs typeface="Helvetica Neue"/>
                <a:sym typeface="Helvetica Neue"/>
              </a:rPr>
              <a:t>Functions and their purposes(cont.):</a:t>
            </a:r>
            <a:endParaRPr sz="1800">
              <a:highlight>
                <a:schemeClr val="lt1"/>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500">
                <a:highlight>
                  <a:schemeClr val="lt1"/>
                </a:highlight>
                <a:latin typeface="Helvetica Neue"/>
                <a:ea typeface="Helvetica Neue"/>
                <a:cs typeface="Helvetica Neue"/>
                <a:sym typeface="Helvetica Neue"/>
              </a:rPr>
              <a:t>e. </a:t>
            </a:r>
            <a:r>
              <a:rPr lang="en" sz="1500" i="1">
                <a:highlight>
                  <a:schemeClr val="lt1"/>
                </a:highlight>
                <a:latin typeface="Helvetica Neue"/>
                <a:ea typeface="Helvetica Neue"/>
                <a:cs typeface="Helvetica Neue"/>
                <a:sym typeface="Helvetica Neue"/>
              </a:rPr>
              <a:t>dev_network</a:t>
            </a:r>
            <a:r>
              <a:rPr lang="en" sz="1500">
                <a:highlight>
                  <a:schemeClr val="lt1"/>
                </a:highlight>
                <a:latin typeface="Helvetica Neue"/>
                <a:ea typeface="Helvetica Neue"/>
                <a:cs typeface="Helvetica Neue"/>
                <a:sym typeface="Helvetica Neue"/>
              </a:rPr>
              <a:t> : Different network architectures based on requirements.</a:t>
            </a:r>
            <a:endParaRPr sz="1500">
              <a:highlight>
                <a:schemeClr val="lt1"/>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500">
                <a:highlight>
                  <a:schemeClr val="lt1"/>
                </a:highlight>
                <a:latin typeface="Helvetica Neue"/>
                <a:ea typeface="Helvetica Neue"/>
                <a:cs typeface="Helvetica Neue"/>
                <a:sym typeface="Helvetica Neue"/>
              </a:rPr>
              <a:t>f. </a:t>
            </a:r>
            <a:r>
              <a:rPr lang="en" sz="1500" i="1">
                <a:highlight>
                  <a:schemeClr val="lt1"/>
                </a:highlight>
                <a:latin typeface="Helvetica Neue"/>
                <a:ea typeface="Helvetica Neue"/>
                <a:cs typeface="Helvetica Neue"/>
                <a:sym typeface="Helvetica Neue"/>
              </a:rPr>
              <a:t>Batch_generation</a:t>
            </a:r>
            <a:r>
              <a:rPr lang="en" sz="1500">
                <a:highlight>
                  <a:schemeClr val="lt1"/>
                </a:highlight>
                <a:latin typeface="Helvetica Neue"/>
                <a:ea typeface="Helvetica Neue"/>
                <a:cs typeface="Helvetica Neue"/>
                <a:sym typeface="Helvetica Neue"/>
              </a:rPr>
              <a:t> : Take normal and anomalous data in equal proportion for each batch.</a:t>
            </a:r>
            <a:endParaRPr sz="2100">
              <a:highlight>
                <a:schemeClr val="lt1"/>
              </a:highlight>
              <a:latin typeface="Helvetica Neue"/>
              <a:ea typeface="Helvetica Neue"/>
              <a:cs typeface="Helvetica Neue"/>
              <a:sym typeface="Helvetica Neue"/>
            </a:endParaRPr>
          </a:p>
          <a:p>
            <a:pPr marL="0" lvl="0" indent="0" algn="l" rtl="0">
              <a:lnSpc>
                <a:spcPct val="75000"/>
              </a:lnSpc>
              <a:spcBef>
                <a:spcPts val="1000"/>
              </a:spcBef>
              <a:spcAft>
                <a:spcPts val="0"/>
              </a:spcAft>
              <a:buNone/>
            </a:pPr>
            <a:r>
              <a:rPr lang="en" sz="1500">
                <a:highlight>
                  <a:schemeClr val="lt1"/>
                </a:highlight>
                <a:latin typeface="Helvetica Neue"/>
                <a:ea typeface="Helvetica Neue"/>
                <a:cs typeface="Helvetica Neue"/>
                <a:sym typeface="Helvetica Neue"/>
              </a:rPr>
              <a:t>g. </a:t>
            </a:r>
            <a:r>
              <a:rPr lang="en" sz="1500" i="1">
                <a:highlight>
                  <a:schemeClr val="lt1"/>
                </a:highlight>
                <a:latin typeface="Helvetica Neue"/>
                <a:ea typeface="Helvetica Neue"/>
                <a:cs typeface="Helvetica Neue"/>
                <a:sym typeface="Helvetica Neue"/>
              </a:rPr>
              <a:t>Inject_noise</a:t>
            </a:r>
            <a:r>
              <a:rPr lang="en" sz="1500">
                <a:highlight>
                  <a:schemeClr val="lt1"/>
                </a:highlight>
                <a:latin typeface="Helvetica Neue"/>
                <a:ea typeface="Helvetica Neue"/>
                <a:cs typeface="Helvetica Neue"/>
                <a:sym typeface="Helvetica Neue"/>
              </a:rPr>
              <a:t> : creates new noisy samples(specify number in input) using say 5% of some inputs and 95% of others to create completely new and noisy data.</a:t>
            </a:r>
            <a:endParaRPr sz="1500">
              <a:highlight>
                <a:schemeClr val="lt1"/>
              </a:highlight>
              <a:latin typeface="Helvetica Neue"/>
              <a:ea typeface="Helvetica Neue"/>
              <a:cs typeface="Helvetica Neue"/>
              <a:sym typeface="Helvetica Neue"/>
            </a:endParaRPr>
          </a:p>
          <a:p>
            <a:pPr marL="0" lvl="0" indent="0" algn="l" rtl="0">
              <a:lnSpc>
                <a:spcPct val="75000"/>
              </a:lnSpc>
              <a:spcBef>
                <a:spcPts val="1000"/>
              </a:spcBef>
              <a:spcAft>
                <a:spcPts val="0"/>
              </a:spcAft>
              <a:buNone/>
            </a:pPr>
            <a:r>
              <a:rPr lang="en" sz="1500">
                <a:highlight>
                  <a:schemeClr val="lt1"/>
                </a:highlight>
                <a:latin typeface="Helvetica Neue"/>
                <a:ea typeface="Helvetica Neue"/>
                <a:cs typeface="Helvetica Neue"/>
                <a:sym typeface="Helvetica Neue"/>
              </a:rPr>
              <a:t>h. </a:t>
            </a:r>
            <a:r>
              <a:rPr lang="en" sz="1500" i="1">
                <a:highlight>
                  <a:schemeClr val="lt1"/>
                </a:highlight>
                <a:latin typeface="Helvetica Neue"/>
                <a:ea typeface="Helvetica Neue"/>
                <a:cs typeface="Helvetica Neue"/>
                <a:sym typeface="Helvetica Neue"/>
              </a:rPr>
              <a:t>Run_devnet</a:t>
            </a:r>
            <a:r>
              <a:rPr lang="en" sz="1500">
                <a:highlight>
                  <a:schemeClr val="lt1"/>
                </a:highlight>
                <a:latin typeface="Helvetica Neue"/>
                <a:ea typeface="Helvetica Neue"/>
                <a:cs typeface="Helvetica Neue"/>
                <a:sym typeface="Helvetica Neue"/>
              </a:rPr>
              <a:t>  : complete implementation of logic described in slide 1 for devnet. Goes over all files; deletes outliers such that only 30 remain so that data is usable for anomaly detection; using these 30 sample data points create more using inject_noise; Then finally fit the model with callbacks and output aucpr score over x_test.</a:t>
            </a:r>
            <a:endParaRPr sz="1500">
              <a:highlight>
                <a:schemeClr val="lt1"/>
              </a:highlight>
              <a:latin typeface="Helvetica Neue"/>
              <a:ea typeface="Helvetica Neue"/>
              <a:cs typeface="Helvetica Neue"/>
              <a:sym typeface="Helvetica Neue"/>
            </a:endParaRPr>
          </a:p>
          <a:p>
            <a:pPr marL="0" lvl="0" indent="0" algn="l" rtl="0">
              <a:lnSpc>
                <a:spcPct val="75000"/>
              </a:lnSpc>
              <a:spcBef>
                <a:spcPts val="1000"/>
              </a:spcBef>
              <a:spcAft>
                <a:spcPts val="0"/>
              </a:spcAft>
              <a:buNone/>
            </a:pPr>
            <a:endParaRPr sz="1200">
              <a:highlight>
                <a:schemeClr val="lt1"/>
              </a:highlight>
              <a:latin typeface="Helvetica Neue"/>
              <a:ea typeface="Helvetica Neue"/>
              <a:cs typeface="Helvetica Neue"/>
              <a:sym typeface="Helvetica Neue"/>
            </a:endParaRPr>
          </a:p>
          <a:p>
            <a:pPr marL="0" lvl="0" indent="0" algn="l" rtl="0">
              <a:lnSpc>
                <a:spcPct val="115000"/>
              </a:lnSpc>
              <a:spcBef>
                <a:spcPts val="1000"/>
              </a:spcBef>
              <a:spcAft>
                <a:spcPts val="1000"/>
              </a:spcAft>
              <a:buNone/>
            </a:pPr>
            <a:endParaRPr sz="1800">
              <a:highlight>
                <a:schemeClr val="lt1"/>
              </a:highlight>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DevNet Results</a:t>
            </a:r>
            <a:endParaRPr b="1"/>
          </a:p>
        </p:txBody>
      </p:sp>
      <p:sp>
        <p:nvSpPr>
          <p:cNvPr id="180" name="Google Shape;180;p38"/>
          <p:cNvSpPr txBox="1">
            <a:spLocks noGrp="1"/>
          </p:cNvSpPr>
          <p:nvPr>
            <p:ph type="body" idx="1"/>
          </p:nvPr>
        </p:nvSpPr>
        <p:spPr>
          <a:xfrm>
            <a:off x="369725" y="1063375"/>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75000"/>
              </a:lnSpc>
              <a:spcBef>
                <a:spcPts val="1000"/>
              </a:spcBef>
              <a:spcAft>
                <a:spcPts val="0"/>
              </a:spcAft>
              <a:buNone/>
            </a:pPr>
            <a:endParaRPr sz="1200">
              <a:highlight>
                <a:schemeClr val="lt1"/>
              </a:highlight>
              <a:latin typeface="Helvetica Neue"/>
              <a:ea typeface="Helvetica Neue"/>
              <a:cs typeface="Helvetica Neue"/>
              <a:sym typeface="Helvetica Neue"/>
            </a:endParaRPr>
          </a:p>
          <a:p>
            <a:pPr marL="0" lvl="0" indent="0" algn="l" rtl="0">
              <a:lnSpc>
                <a:spcPct val="75000"/>
              </a:lnSpc>
              <a:spcBef>
                <a:spcPts val="1000"/>
              </a:spcBef>
              <a:spcAft>
                <a:spcPts val="0"/>
              </a:spcAft>
              <a:buNone/>
            </a:pPr>
            <a:endParaRPr sz="1200">
              <a:highlight>
                <a:schemeClr val="lt1"/>
              </a:highlight>
              <a:latin typeface="Helvetica Neue"/>
              <a:ea typeface="Helvetica Neue"/>
              <a:cs typeface="Helvetica Neue"/>
              <a:sym typeface="Helvetica Neue"/>
            </a:endParaRPr>
          </a:p>
          <a:p>
            <a:pPr marL="0" lvl="0" indent="0" algn="l" rtl="0">
              <a:lnSpc>
                <a:spcPct val="115000"/>
              </a:lnSpc>
              <a:spcBef>
                <a:spcPts val="1000"/>
              </a:spcBef>
              <a:spcAft>
                <a:spcPts val="1000"/>
              </a:spcAft>
              <a:buNone/>
            </a:pPr>
            <a:endParaRPr sz="1800">
              <a:highlight>
                <a:schemeClr val="lt1"/>
              </a:highlight>
              <a:latin typeface="Helvetica Neue"/>
              <a:ea typeface="Helvetica Neue"/>
              <a:cs typeface="Helvetica Neue"/>
              <a:sym typeface="Helvetica Neue"/>
            </a:endParaRPr>
          </a:p>
        </p:txBody>
      </p:sp>
      <p:pic>
        <p:nvPicPr>
          <p:cNvPr id="181" name="Google Shape;181;p38"/>
          <p:cNvPicPr preferRelativeResize="0"/>
          <p:nvPr/>
        </p:nvPicPr>
        <p:blipFill>
          <a:blip r:embed="rId3">
            <a:alphaModFix/>
          </a:blip>
          <a:stretch>
            <a:fillRect/>
          </a:stretch>
        </p:blipFill>
        <p:spPr>
          <a:xfrm>
            <a:off x="504825" y="1063363"/>
            <a:ext cx="8134350" cy="2047875"/>
          </a:xfrm>
          <a:prstGeom prst="rect">
            <a:avLst/>
          </a:prstGeom>
          <a:noFill/>
          <a:ln>
            <a:noFill/>
          </a:ln>
        </p:spPr>
      </p:pic>
      <p:pic>
        <p:nvPicPr>
          <p:cNvPr id="182" name="Google Shape;182;p38"/>
          <p:cNvPicPr preferRelativeResize="0"/>
          <p:nvPr/>
        </p:nvPicPr>
        <p:blipFill>
          <a:blip r:embed="rId4">
            <a:alphaModFix/>
          </a:blip>
          <a:stretch>
            <a:fillRect/>
          </a:stretch>
        </p:blipFill>
        <p:spPr>
          <a:xfrm>
            <a:off x="507900" y="3248025"/>
            <a:ext cx="7953251" cy="1895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Idea 1: Focal Loss DevNet 1/1</a:t>
            </a:r>
            <a:endParaRPr b="1"/>
          </a:p>
        </p:txBody>
      </p:sp>
      <p:sp>
        <p:nvSpPr>
          <p:cNvPr id="188" name="Google Shape;188;p39"/>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17500" algn="l" rtl="0">
              <a:lnSpc>
                <a:spcPct val="115000"/>
              </a:lnSpc>
              <a:spcBef>
                <a:spcPts val="1000"/>
              </a:spcBef>
              <a:spcAft>
                <a:spcPts val="0"/>
              </a:spcAft>
              <a:buClr>
                <a:srgbClr val="0000FF"/>
              </a:buClr>
              <a:buSzPts val="1400"/>
              <a:buFont typeface="Helvetica Neue"/>
              <a:buChar char="•"/>
            </a:pPr>
            <a:r>
              <a:rPr lang="en" sz="1400">
                <a:highlight>
                  <a:srgbClr val="FFFFFF"/>
                </a:highlight>
                <a:latin typeface="Helvetica Neue"/>
                <a:ea typeface="Helvetica Neue"/>
                <a:cs typeface="Helvetica Neue"/>
                <a:sym typeface="Helvetica Neue"/>
              </a:rPr>
              <a:t>The model this approach was based on was DevNet but is different on the account of loss.</a:t>
            </a:r>
            <a:endParaRPr sz="1400">
              <a:highlight>
                <a:srgbClr val="FFFFFF"/>
              </a:highlight>
              <a:latin typeface="Helvetica Neue"/>
              <a:ea typeface="Helvetica Neue"/>
              <a:cs typeface="Helvetica Neue"/>
              <a:sym typeface="Helvetica Neue"/>
            </a:endParaRPr>
          </a:p>
          <a:p>
            <a:pPr marL="457200" lvl="0" indent="-317500" algn="l" rtl="0">
              <a:lnSpc>
                <a:spcPct val="115000"/>
              </a:lnSpc>
              <a:spcBef>
                <a:spcPts val="0"/>
              </a:spcBef>
              <a:spcAft>
                <a:spcPts val="0"/>
              </a:spcAft>
              <a:buSzPts val="1400"/>
              <a:buFont typeface="Helvetica Neue"/>
              <a:buChar char="•"/>
            </a:pPr>
            <a:r>
              <a:rPr lang="en" sz="1400">
                <a:highlight>
                  <a:srgbClr val="FFFFFF"/>
                </a:highlight>
                <a:latin typeface="Helvetica Neue"/>
                <a:ea typeface="Helvetica Neue"/>
                <a:cs typeface="Helvetica Neue"/>
                <a:sym typeface="Helvetica Neue"/>
              </a:rPr>
              <a:t>The idea was that loss needs to focus on hard to classify samples (samples which output a value very close to the margin are hard to classify), and to do so, a new loss function was developed called focal loss similar to the ‘focus of a lens’.</a:t>
            </a:r>
            <a:endParaRPr sz="1400">
              <a:highlight>
                <a:srgbClr val="FFFFFF"/>
              </a:highlight>
              <a:latin typeface="Helvetica Neue"/>
              <a:ea typeface="Helvetica Neue"/>
              <a:cs typeface="Helvetica Neue"/>
              <a:sym typeface="Helvetica Neue"/>
            </a:endParaRPr>
          </a:p>
          <a:p>
            <a:pPr marL="457200" lvl="0" indent="-317500" algn="l" rtl="0">
              <a:lnSpc>
                <a:spcPct val="115000"/>
              </a:lnSpc>
              <a:spcBef>
                <a:spcPts val="0"/>
              </a:spcBef>
              <a:spcAft>
                <a:spcPts val="0"/>
              </a:spcAft>
              <a:buSzPts val="1400"/>
              <a:buFont typeface="Helvetica Neue"/>
              <a:buChar char="•"/>
            </a:pPr>
            <a:r>
              <a:rPr lang="en" sz="1400">
                <a:highlight>
                  <a:srgbClr val="FFFFFF"/>
                </a:highlight>
                <a:latin typeface="Helvetica Neue"/>
                <a:ea typeface="Helvetica Neue"/>
                <a:cs typeface="Helvetica Neue"/>
                <a:sym typeface="Helvetica Neue"/>
              </a:rPr>
              <a:t>This provided some improvements low AUPR cases by original DevNet, but significantly worsened AUPR for the datasets with a good AUPR by DevNet.</a:t>
            </a:r>
            <a:endParaRPr sz="1400">
              <a:highlight>
                <a:srgbClr val="FFFFFF"/>
              </a:highlight>
              <a:latin typeface="Helvetica Neue"/>
              <a:ea typeface="Helvetica Neue"/>
              <a:cs typeface="Helvetica Neue"/>
              <a:sym typeface="Helvetica Neue"/>
            </a:endParaRPr>
          </a:p>
          <a:p>
            <a:pPr marL="457200" lvl="0" indent="-317500" algn="l" rtl="0">
              <a:lnSpc>
                <a:spcPct val="115000"/>
              </a:lnSpc>
              <a:spcBef>
                <a:spcPts val="0"/>
              </a:spcBef>
              <a:spcAft>
                <a:spcPts val="0"/>
              </a:spcAft>
              <a:buSzPts val="1400"/>
              <a:buFont typeface="Helvetica Neue"/>
              <a:buChar char="•"/>
            </a:pPr>
            <a:r>
              <a:rPr lang="en" sz="1400">
                <a:highlight>
                  <a:schemeClr val="lt1"/>
                </a:highlight>
                <a:latin typeface="Helvetica Neue"/>
                <a:ea typeface="Helvetica Neue"/>
                <a:cs typeface="Helvetica Neue"/>
                <a:sym typeface="Helvetica Neue"/>
              </a:rPr>
              <a:t>Code Explanation:</a:t>
            </a:r>
            <a:endParaRPr sz="1400">
              <a:highlight>
                <a:schemeClr val="lt1"/>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r>
              <a:rPr lang="en" sz="1300" i="1" u="sng">
                <a:solidFill>
                  <a:srgbClr val="FF0000"/>
                </a:solidFill>
                <a:highlight>
                  <a:schemeClr val="lt1"/>
                </a:highlight>
                <a:latin typeface="Helvetica Neue"/>
                <a:ea typeface="Helvetica Neue"/>
                <a:cs typeface="Helvetica Neue"/>
                <a:sym typeface="Helvetica Neue"/>
              </a:rPr>
              <a:t>Extra functions (and changes) over DevNet:</a:t>
            </a:r>
            <a:endParaRPr sz="1300" i="1" u="sng">
              <a:solidFill>
                <a:srgbClr val="FF0000"/>
              </a:solidFill>
              <a:highlight>
                <a:schemeClr val="lt1"/>
              </a:highlight>
              <a:latin typeface="Helvetica Neue"/>
              <a:ea typeface="Helvetica Neue"/>
              <a:cs typeface="Helvetica Neue"/>
              <a:sym typeface="Helvetica Neue"/>
            </a:endParaRPr>
          </a:p>
          <a:p>
            <a:pPr marL="914400" lvl="0" indent="-311150" algn="l" rtl="0">
              <a:lnSpc>
                <a:spcPct val="135714"/>
              </a:lnSpc>
              <a:spcBef>
                <a:spcPts val="100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Create_focal_deviation_loss: This uses the gamma value to make the loss more affected by changes to close to margin samples.</a:t>
            </a:r>
            <a:endParaRPr sz="1300">
              <a:solidFill>
                <a:srgbClr val="FF0000"/>
              </a:solidFill>
              <a:highlight>
                <a:schemeClr val="lt1"/>
              </a:highlight>
              <a:latin typeface="Helvetica Neue"/>
              <a:ea typeface="Helvetica Neue"/>
              <a:cs typeface="Helvetica Neue"/>
              <a:sym typeface="Helvetica Neue"/>
            </a:endParaRPr>
          </a:p>
          <a:p>
            <a:pPr marL="914400" lvl="0" indent="-311150" algn="l" rtl="0">
              <a:lnSpc>
                <a:spcPct val="135714"/>
              </a:lnSpc>
              <a:spcBef>
                <a:spcPts val="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Changes to margin and multiple other hyperparameters to handle the change in logic of loss.</a:t>
            </a:r>
            <a:endParaRPr sz="1600">
              <a:highlight>
                <a:srgbClr val="FFFFFF"/>
              </a:highlight>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0"/>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Focal Results</a:t>
            </a:r>
            <a:endParaRPr b="1"/>
          </a:p>
        </p:txBody>
      </p:sp>
      <p:sp>
        <p:nvSpPr>
          <p:cNvPr id="194" name="Google Shape;194;p40"/>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None/>
            </a:pPr>
            <a:r>
              <a:rPr lang="en" sz="1400">
                <a:highlight>
                  <a:srgbClr val="FFFFFF"/>
                </a:highlight>
                <a:latin typeface="Helvetica Neue"/>
                <a:ea typeface="Helvetica Neue"/>
                <a:cs typeface="Helvetica Neue"/>
                <a:sym typeface="Helvetica Neue"/>
              </a:rPr>
              <a:t>FOCAL</a:t>
            </a:r>
            <a:endParaRPr sz="1400">
              <a:highlight>
                <a:srgbClr val="FFFFFF"/>
              </a:highlight>
              <a:latin typeface="Helvetica Neue"/>
              <a:ea typeface="Helvetica Neue"/>
              <a:cs typeface="Helvetica Neue"/>
              <a:sym typeface="Helvetica Neue"/>
            </a:endParaRPr>
          </a:p>
          <a:p>
            <a:pPr marL="0" lvl="0" indent="0" algn="l" rtl="0">
              <a:lnSpc>
                <a:spcPct val="135714"/>
              </a:lnSpc>
              <a:spcBef>
                <a:spcPts val="0"/>
              </a:spcBef>
              <a:spcAft>
                <a:spcPts val="0"/>
              </a:spcAft>
              <a:buNone/>
            </a:pPr>
            <a:endParaRPr sz="1400">
              <a:highlight>
                <a:srgbClr val="FFFFFF"/>
              </a:highlight>
              <a:latin typeface="Helvetica Neue"/>
              <a:ea typeface="Helvetica Neue"/>
              <a:cs typeface="Helvetica Neue"/>
              <a:sym typeface="Helvetica Neue"/>
            </a:endParaRPr>
          </a:p>
          <a:p>
            <a:pPr marL="0" lvl="0" indent="0" algn="l" rtl="0">
              <a:lnSpc>
                <a:spcPct val="135714"/>
              </a:lnSpc>
              <a:spcBef>
                <a:spcPts val="0"/>
              </a:spcBef>
              <a:spcAft>
                <a:spcPts val="0"/>
              </a:spcAft>
              <a:buNone/>
            </a:pPr>
            <a:endParaRPr sz="1400">
              <a:highlight>
                <a:srgbClr val="FFFFFF"/>
              </a:highlight>
              <a:latin typeface="Helvetica Neue"/>
              <a:ea typeface="Helvetica Neue"/>
              <a:cs typeface="Helvetica Neue"/>
              <a:sym typeface="Helvetica Neue"/>
            </a:endParaRPr>
          </a:p>
          <a:p>
            <a:pPr marL="0" lvl="0" indent="0" algn="l" rtl="0">
              <a:lnSpc>
                <a:spcPct val="135714"/>
              </a:lnSpc>
              <a:spcBef>
                <a:spcPts val="0"/>
              </a:spcBef>
              <a:spcAft>
                <a:spcPts val="0"/>
              </a:spcAft>
              <a:buNone/>
            </a:pPr>
            <a:endParaRPr sz="1400">
              <a:highlight>
                <a:srgbClr val="FFFFFF"/>
              </a:highlight>
              <a:latin typeface="Helvetica Neue"/>
              <a:ea typeface="Helvetica Neue"/>
              <a:cs typeface="Helvetica Neue"/>
              <a:sym typeface="Helvetica Neue"/>
            </a:endParaRPr>
          </a:p>
          <a:p>
            <a:pPr marL="0" lvl="0" indent="0" algn="l" rtl="0">
              <a:lnSpc>
                <a:spcPct val="135714"/>
              </a:lnSpc>
              <a:spcBef>
                <a:spcPts val="0"/>
              </a:spcBef>
              <a:spcAft>
                <a:spcPts val="0"/>
              </a:spcAft>
              <a:buNone/>
            </a:pPr>
            <a:endParaRPr sz="1400">
              <a:highlight>
                <a:srgbClr val="FFFFFF"/>
              </a:highlight>
              <a:latin typeface="Helvetica Neue"/>
              <a:ea typeface="Helvetica Neue"/>
              <a:cs typeface="Helvetica Neue"/>
              <a:sym typeface="Helvetica Neue"/>
            </a:endParaRPr>
          </a:p>
          <a:p>
            <a:pPr marL="0" lvl="0" indent="0" algn="l" rtl="0">
              <a:lnSpc>
                <a:spcPct val="135714"/>
              </a:lnSpc>
              <a:spcBef>
                <a:spcPts val="0"/>
              </a:spcBef>
              <a:spcAft>
                <a:spcPts val="0"/>
              </a:spcAft>
              <a:buNone/>
            </a:pPr>
            <a:endParaRPr sz="1400">
              <a:highlight>
                <a:srgbClr val="FFFFFF"/>
              </a:highlight>
              <a:latin typeface="Helvetica Neue"/>
              <a:ea typeface="Helvetica Neue"/>
              <a:cs typeface="Helvetica Neue"/>
              <a:sym typeface="Helvetica Neue"/>
            </a:endParaRPr>
          </a:p>
          <a:p>
            <a:pPr marL="0" lvl="0" indent="0" algn="l" rtl="0">
              <a:lnSpc>
                <a:spcPct val="135714"/>
              </a:lnSpc>
              <a:spcBef>
                <a:spcPts val="0"/>
              </a:spcBef>
              <a:spcAft>
                <a:spcPts val="0"/>
              </a:spcAft>
              <a:buNone/>
            </a:pPr>
            <a:r>
              <a:rPr lang="en" sz="1400">
                <a:highlight>
                  <a:srgbClr val="FFFFFF"/>
                </a:highlight>
                <a:latin typeface="Helvetica Neue"/>
                <a:ea typeface="Helvetica Neue"/>
                <a:cs typeface="Helvetica Neue"/>
                <a:sym typeface="Helvetica Neue"/>
              </a:rPr>
              <a:t>DEVNET</a:t>
            </a:r>
            <a:endParaRPr sz="1400">
              <a:highlight>
                <a:srgbClr val="FFFFFF"/>
              </a:highlight>
              <a:latin typeface="Helvetica Neue"/>
              <a:ea typeface="Helvetica Neue"/>
              <a:cs typeface="Helvetica Neue"/>
              <a:sym typeface="Helvetica Neue"/>
            </a:endParaRPr>
          </a:p>
        </p:txBody>
      </p:sp>
      <p:pic>
        <p:nvPicPr>
          <p:cNvPr id="195" name="Google Shape;195;p40"/>
          <p:cNvPicPr preferRelativeResize="0"/>
          <p:nvPr/>
        </p:nvPicPr>
        <p:blipFill>
          <a:blip r:embed="rId3">
            <a:alphaModFix/>
          </a:blip>
          <a:stretch>
            <a:fillRect/>
          </a:stretch>
        </p:blipFill>
        <p:spPr>
          <a:xfrm>
            <a:off x="1539065" y="1257400"/>
            <a:ext cx="6825999" cy="1627225"/>
          </a:xfrm>
          <a:prstGeom prst="rect">
            <a:avLst/>
          </a:prstGeom>
          <a:noFill/>
          <a:ln>
            <a:noFill/>
          </a:ln>
        </p:spPr>
      </p:pic>
      <p:pic>
        <p:nvPicPr>
          <p:cNvPr id="196" name="Google Shape;196;p40"/>
          <p:cNvPicPr preferRelativeResize="0"/>
          <p:nvPr/>
        </p:nvPicPr>
        <p:blipFill>
          <a:blip r:embed="rId4">
            <a:alphaModFix/>
          </a:blip>
          <a:stretch>
            <a:fillRect/>
          </a:stretch>
        </p:blipFill>
        <p:spPr>
          <a:xfrm>
            <a:off x="1507900" y="2884623"/>
            <a:ext cx="6888326" cy="1734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41"/>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Idea 2: Variational DevNet 1/3</a:t>
            </a:r>
            <a:endParaRPr b="1"/>
          </a:p>
        </p:txBody>
      </p:sp>
      <p:sp>
        <p:nvSpPr>
          <p:cNvPr id="202" name="Google Shape;202;p41"/>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This is based on Autoencoders and DevNet at the same time. The way autoencoders classify anomalies is significantly similar to DevNet as anomalies are those which give high reconstruction error. By utilizing the Gaussian distribution implicitly learned by the autoencoder as the reference in DevNet’s deviation loss, the anomaly scoring becomes more manageable. The mean and median of the new distribution are a natural easy mapping from given data as thats what was done by autoencoder and this the network now has an easier mapping to deal with to detect anomalies rather than generalizing to N(0,1).</a:t>
            </a:r>
            <a:endParaRPr sz="30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2"/>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Idea 2: Variational DevNet 2/3</a:t>
            </a:r>
            <a:endParaRPr b="1"/>
          </a:p>
        </p:txBody>
      </p:sp>
      <p:sp>
        <p:nvSpPr>
          <p:cNvPr id="208" name="Google Shape;208;p42"/>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1000"/>
              </a:spcAft>
              <a:buNone/>
            </a:pPr>
            <a:endParaRPr sz="1800">
              <a:solidFill>
                <a:schemeClr val="dk1"/>
              </a:solidFill>
              <a:highlight>
                <a:srgbClr val="FFFFFF"/>
              </a:highlight>
              <a:latin typeface="Helvetica Neue"/>
              <a:ea typeface="Helvetica Neue"/>
              <a:cs typeface="Helvetica Neue"/>
              <a:sym typeface="Helvetica Neue"/>
            </a:endParaRPr>
          </a:p>
        </p:txBody>
      </p:sp>
      <p:pic>
        <p:nvPicPr>
          <p:cNvPr id="209" name="Google Shape;209;p42" title="Screenshot 2025-05-03 193809.png"/>
          <p:cNvPicPr preferRelativeResize="0"/>
          <p:nvPr/>
        </p:nvPicPr>
        <p:blipFill>
          <a:blip r:embed="rId3">
            <a:alphaModFix/>
          </a:blip>
          <a:stretch>
            <a:fillRect/>
          </a:stretch>
        </p:blipFill>
        <p:spPr>
          <a:xfrm>
            <a:off x="4520775" y="1063375"/>
            <a:ext cx="4288225" cy="3544700"/>
          </a:xfrm>
          <a:prstGeom prst="rect">
            <a:avLst/>
          </a:prstGeom>
          <a:noFill/>
          <a:ln>
            <a:noFill/>
          </a:ln>
        </p:spPr>
      </p:pic>
      <p:pic>
        <p:nvPicPr>
          <p:cNvPr id="210" name="Google Shape;210;p42" title="futureinternet-14-00080-g005.png"/>
          <p:cNvPicPr preferRelativeResize="0"/>
          <p:nvPr/>
        </p:nvPicPr>
        <p:blipFill>
          <a:blip r:embed="rId4">
            <a:alphaModFix/>
          </a:blip>
          <a:stretch>
            <a:fillRect/>
          </a:stretch>
        </p:blipFill>
        <p:spPr>
          <a:xfrm>
            <a:off x="2" y="1063376"/>
            <a:ext cx="4478444" cy="3544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4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Idea 2: Variational DevNet 3/3</a:t>
            </a:r>
            <a:endParaRPr b="1"/>
          </a:p>
        </p:txBody>
      </p:sp>
      <p:sp>
        <p:nvSpPr>
          <p:cNvPr id="216" name="Google Shape;216;p4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Code explanation:</a:t>
            </a:r>
            <a:endParaRPr sz="1800">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300">
                <a:solidFill>
                  <a:srgbClr val="FF0000"/>
                </a:solidFill>
                <a:highlight>
                  <a:srgbClr val="FFFFFF"/>
                </a:highlight>
                <a:latin typeface="Helvetica Neue"/>
                <a:ea typeface="Helvetica Neue"/>
                <a:cs typeface="Helvetica Neue"/>
                <a:sym typeface="Helvetica Neue"/>
              </a:rPr>
              <a:t>Extra functions(and a few changes) over DevNet: </a:t>
            </a:r>
            <a:endParaRPr sz="2000">
              <a:highlight>
                <a:srgbClr val="FFFFFF"/>
              </a:highlight>
              <a:latin typeface="Helvetica Neue"/>
              <a:ea typeface="Helvetica Neue"/>
              <a:cs typeface="Helvetica Neue"/>
              <a:sym typeface="Helvetica Neue"/>
            </a:endParaRPr>
          </a:p>
          <a:p>
            <a:pPr marL="457200" lvl="0" indent="-311150" algn="l" rtl="0">
              <a:lnSpc>
                <a:spcPct val="135714"/>
              </a:lnSpc>
              <a:spcBef>
                <a:spcPts val="100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Sampling: Used to generate a latent vector (z) that follows a Gaussian distribution.</a:t>
            </a:r>
            <a:endParaRPr sz="1250">
              <a:solidFill>
                <a:srgbClr val="DCDCAA"/>
              </a:solidFill>
              <a:highlight>
                <a:srgbClr val="1F1F1F"/>
              </a:highlight>
              <a:latin typeface="Courier New"/>
              <a:ea typeface="Courier New"/>
              <a:cs typeface="Courier New"/>
              <a:sym typeface="Courier New"/>
            </a:endParaRPr>
          </a:p>
          <a:p>
            <a:pPr marL="457200" lvl="0" indent="-311150" algn="l" rtl="0">
              <a:lnSpc>
                <a:spcPct val="135714"/>
              </a:lnSpc>
              <a:spcBef>
                <a:spcPts val="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Build_vae: to create the encoder and decoder neural nets: recon error and KL divergencesed </a:t>
            </a:r>
            <a:endParaRPr sz="1250">
              <a:solidFill>
                <a:srgbClr val="DCDCAA"/>
              </a:solidFill>
              <a:highlight>
                <a:srgbClr val="1F1F1F"/>
              </a:highlight>
              <a:latin typeface="Courier New"/>
              <a:ea typeface="Courier New"/>
              <a:cs typeface="Courier New"/>
              <a:sym typeface="Courier New"/>
            </a:endParaRPr>
          </a:p>
          <a:p>
            <a:pPr marL="457200" lvl="0" indent="-311150" algn="l" rtl="0">
              <a:lnSpc>
                <a:spcPct val="135714"/>
              </a:lnSpc>
              <a:spcBef>
                <a:spcPts val="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Run_vdevnet: changed from normal run_devnet on several places. Firstly this runs the VAE network to first find the variance and mean for the DevNet to use for better accuracy.</a:t>
            </a:r>
            <a:endParaRPr sz="1250">
              <a:solidFill>
                <a:srgbClr val="DCDCAA"/>
              </a:solidFill>
              <a:highlight>
                <a:srgbClr val="1F1F1F"/>
              </a:highlight>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4"/>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Variational DevNet Results</a:t>
            </a:r>
            <a:endParaRPr b="1"/>
          </a:p>
        </p:txBody>
      </p:sp>
      <p:sp>
        <p:nvSpPr>
          <p:cNvPr id="222" name="Google Shape;222;p44"/>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None/>
            </a:pPr>
            <a:r>
              <a:rPr lang="en" sz="1800">
                <a:solidFill>
                  <a:srgbClr val="0000FF"/>
                </a:solidFill>
                <a:highlight>
                  <a:schemeClr val="lt1"/>
                </a:highlight>
                <a:latin typeface="Courier New"/>
                <a:ea typeface="Courier New"/>
                <a:cs typeface="Courier New"/>
                <a:sym typeface="Courier New"/>
              </a:rPr>
              <a:t>VDEVNET</a:t>
            </a:r>
            <a:endParaRPr sz="1800">
              <a:solidFill>
                <a:srgbClr val="0000FF"/>
              </a:solidFill>
              <a:highlight>
                <a:schemeClr val="lt1"/>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800">
              <a:solidFill>
                <a:srgbClr val="0000FF"/>
              </a:solidFill>
              <a:highlight>
                <a:schemeClr val="lt1"/>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800">
              <a:solidFill>
                <a:srgbClr val="0000FF"/>
              </a:solidFill>
              <a:highlight>
                <a:schemeClr val="lt1"/>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800">
              <a:solidFill>
                <a:srgbClr val="0000FF"/>
              </a:solidFill>
              <a:highlight>
                <a:schemeClr val="lt1"/>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800">
              <a:solidFill>
                <a:srgbClr val="0000FF"/>
              </a:solidFill>
              <a:highlight>
                <a:schemeClr val="lt1"/>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rgbClr val="0000FF"/>
                </a:solidFill>
                <a:highlight>
                  <a:schemeClr val="lt1"/>
                </a:highlight>
                <a:latin typeface="Courier New"/>
                <a:ea typeface="Courier New"/>
                <a:cs typeface="Courier New"/>
                <a:sym typeface="Courier New"/>
              </a:rPr>
              <a:t>DEVNET</a:t>
            </a:r>
            <a:endParaRPr sz="1800">
              <a:solidFill>
                <a:srgbClr val="0000FF"/>
              </a:solidFill>
              <a:highlight>
                <a:schemeClr val="lt1"/>
              </a:highlight>
              <a:latin typeface="Courier New"/>
              <a:ea typeface="Courier New"/>
              <a:cs typeface="Courier New"/>
              <a:sym typeface="Courier New"/>
            </a:endParaRPr>
          </a:p>
        </p:txBody>
      </p:sp>
      <p:pic>
        <p:nvPicPr>
          <p:cNvPr id="223" name="Google Shape;223;p44"/>
          <p:cNvPicPr preferRelativeResize="0"/>
          <p:nvPr/>
        </p:nvPicPr>
        <p:blipFill>
          <a:blip r:embed="rId3">
            <a:alphaModFix/>
          </a:blip>
          <a:stretch>
            <a:fillRect/>
          </a:stretch>
        </p:blipFill>
        <p:spPr>
          <a:xfrm>
            <a:off x="1511816" y="1121076"/>
            <a:ext cx="7145847" cy="1734175"/>
          </a:xfrm>
          <a:prstGeom prst="rect">
            <a:avLst/>
          </a:prstGeom>
          <a:noFill/>
          <a:ln>
            <a:noFill/>
          </a:ln>
        </p:spPr>
      </p:pic>
      <p:pic>
        <p:nvPicPr>
          <p:cNvPr id="224" name="Google Shape;224;p44"/>
          <p:cNvPicPr preferRelativeResize="0"/>
          <p:nvPr/>
        </p:nvPicPr>
        <p:blipFill>
          <a:blip r:embed="rId4">
            <a:alphaModFix/>
          </a:blip>
          <a:stretch>
            <a:fillRect/>
          </a:stretch>
        </p:blipFill>
        <p:spPr>
          <a:xfrm>
            <a:off x="1532900" y="2912950"/>
            <a:ext cx="7103674" cy="1788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5"/>
          <p:cNvSpPr txBox="1">
            <a:spLocks noGrp="1"/>
          </p:cNvSpPr>
          <p:nvPr>
            <p:ph type="title"/>
          </p:nvPr>
        </p:nvSpPr>
        <p:spPr>
          <a:xfrm>
            <a:off x="457200" y="-114447"/>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Results</a:t>
            </a:r>
            <a:endParaRPr b="1"/>
          </a:p>
        </p:txBody>
      </p:sp>
      <p:sp>
        <p:nvSpPr>
          <p:cNvPr id="230" name="Google Shape;230;p45"/>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endParaRPr sz="2100">
              <a:solidFill>
                <a:srgbClr val="0000FF"/>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endParaRPr sz="3300">
              <a:solidFill>
                <a:srgbClr val="0000FF"/>
              </a:solidFill>
            </a:endParaRPr>
          </a:p>
        </p:txBody>
      </p:sp>
      <p:pic>
        <p:nvPicPr>
          <p:cNvPr id="231" name="Google Shape;231;p45"/>
          <p:cNvPicPr preferRelativeResize="0"/>
          <p:nvPr/>
        </p:nvPicPr>
        <p:blipFill>
          <a:blip r:embed="rId3">
            <a:alphaModFix/>
          </a:blip>
          <a:stretch>
            <a:fillRect/>
          </a:stretch>
        </p:blipFill>
        <p:spPr>
          <a:xfrm>
            <a:off x="1095375" y="742950"/>
            <a:ext cx="6953250" cy="1828800"/>
          </a:xfrm>
          <a:prstGeom prst="rect">
            <a:avLst/>
          </a:prstGeom>
          <a:noFill/>
          <a:ln>
            <a:noFill/>
          </a:ln>
        </p:spPr>
      </p:pic>
      <p:pic>
        <p:nvPicPr>
          <p:cNvPr id="232" name="Google Shape;232;p45"/>
          <p:cNvPicPr preferRelativeResize="0"/>
          <p:nvPr/>
        </p:nvPicPr>
        <p:blipFill>
          <a:blip r:embed="rId4">
            <a:alphaModFix/>
          </a:blip>
          <a:stretch>
            <a:fillRect/>
          </a:stretch>
        </p:blipFill>
        <p:spPr>
          <a:xfrm>
            <a:off x="1095375" y="2632175"/>
            <a:ext cx="6786851" cy="2069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6"/>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Analysis</a:t>
            </a:r>
            <a:endParaRPr b="1"/>
          </a:p>
        </p:txBody>
      </p:sp>
      <p:sp>
        <p:nvSpPr>
          <p:cNvPr id="238" name="Google Shape;238;p46"/>
          <p:cNvSpPr txBox="1">
            <a:spLocks noGrp="1"/>
          </p:cNvSpPr>
          <p:nvPr>
            <p:ph type="body" idx="4294967295"/>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The qualitative pattern is clear: the “deviation” term gives the model extra guidance to focus on true outliers rather than incidental noise irrespective of whether anomalies are diverse (no cluster, many distinct positions for anomalies) or subtle (anomalies only slightly different from normal data).</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AUC-PR which gives a more detailed analysis of accuracy of a model in an imbalanced dataset seems is the best in VDevNet and the second spot is claimed by DevNet or FocalLossDevNet. This implies VDevNet is a marked improvement over any of the others.</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117% improvement for census data, 66% for celeba, 40% for bank while the others are high enough for only a slight improvement to be possible.</a:t>
            </a:r>
            <a:endParaRPr sz="1800">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endParaRPr sz="1800">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00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7"/>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Analysis</a:t>
            </a:r>
            <a:endParaRPr b="1"/>
          </a:p>
        </p:txBody>
      </p:sp>
      <p:sp>
        <p:nvSpPr>
          <p:cNvPr id="244" name="Google Shape;244;p47"/>
          <p:cNvSpPr txBox="1">
            <a:spLocks noGrp="1"/>
          </p:cNvSpPr>
          <p:nvPr>
            <p:ph type="body" idx="4294967295"/>
          </p:nvPr>
        </p:nvSpPr>
        <p:spPr>
          <a:xfrm>
            <a:off x="457200" y="989500"/>
            <a:ext cx="8229600" cy="339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SzPts val="1800"/>
              <a:buFont typeface="Helvetica Neue"/>
              <a:buChar char="•"/>
            </a:pPr>
            <a:r>
              <a:rPr lang="en" sz="1800">
                <a:highlight>
                  <a:schemeClr val="lt1"/>
                </a:highlight>
                <a:latin typeface="Helvetica Neue"/>
                <a:ea typeface="Helvetica Neue"/>
                <a:cs typeface="Helvetica Neue"/>
                <a:sym typeface="Helvetica Neue"/>
              </a:rPr>
              <a:t>iForest seems to be redundant as most algorithms after it have beaten it  by a huge margin.</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Focal Loss did better on datasets which had low AUPR on DevNet, while did worse than  DevNet on datasets with high AUPR, making it a more stable choice.</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This probably means that some weighted losses work better on some difficult to differentiate datasets, which in hindsight seems obvious.</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It is a logical that if we iterate over multiple the gamma for Focal Loss, we will definitely get better results than DevNet.</a:t>
            </a:r>
            <a:endParaRPr sz="1800">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1000"/>
              </a:spcAft>
              <a:buNone/>
            </a:pPr>
            <a:endParaRPr sz="1800">
              <a:highlight>
                <a:srgbClr val="FFFFFF"/>
              </a:highlight>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Analysis</a:t>
            </a:r>
            <a:endParaRPr b="1"/>
          </a:p>
        </p:txBody>
      </p:sp>
      <p:sp>
        <p:nvSpPr>
          <p:cNvPr id="250" name="Google Shape;250;p48"/>
          <p:cNvSpPr txBox="1">
            <a:spLocks noGrp="1"/>
          </p:cNvSpPr>
          <p:nvPr>
            <p:ph type="body" idx="4294967295"/>
          </p:nvPr>
        </p:nvSpPr>
        <p:spPr>
          <a:xfrm>
            <a:off x="457200" y="1200150"/>
            <a:ext cx="8229600" cy="3595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In addition to the numerical datasets, we also tried out anomaly detection on </a:t>
            </a:r>
            <a:r>
              <a:rPr lang="en" sz="1800" b="1">
                <a:highlight>
                  <a:srgbClr val="FFFFFF"/>
                </a:highlight>
                <a:latin typeface="Helvetica Neue"/>
                <a:ea typeface="Helvetica Neue"/>
                <a:cs typeface="Helvetica Neue"/>
                <a:sym typeface="Helvetica Neue"/>
              </a:rPr>
              <a:t>Image Datasets</a:t>
            </a:r>
            <a:r>
              <a:rPr lang="en" sz="1800">
                <a:highlight>
                  <a:srgbClr val="FFFFFF"/>
                </a:highlight>
                <a:latin typeface="Helvetica Neue"/>
                <a:ea typeface="Helvetica Neue"/>
                <a:cs typeface="Helvetica Neue"/>
                <a:sym typeface="Helvetica Neue"/>
              </a:rPr>
              <a:t>, yielding highly intuitive visualisations, and also proving the power of deviation loss.</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Using our loss function combined with a CNN architecture to deal with images, we did the anomaly scoring for images, but in the process, the neural network also helped us find what parts of the image were the source of anomaly, if any.</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The value of gradients appearing for each pixel’s associated weight in the neural network, actually contains the information about that pixel’s contribution in the training. </a:t>
            </a:r>
            <a:r>
              <a:rPr lang="en" sz="1800" b="1">
                <a:highlight>
                  <a:srgbClr val="FFFFFF"/>
                </a:highlight>
                <a:latin typeface="Helvetica Neue"/>
                <a:ea typeface="Helvetica Neue"/>
                <a:cs typeface="Helvetica Neue"/>
                <a:sym typeface="Helvetica Neue"/>
              </a:rPr>
              <a:t>Higher the gradient, more likely to be a source of anomaly</a:t>
            </a:r>
            <a:endParaRPr sz="1800" b="1">
              <a:highlight>
                <a:srgbClr val="FFFFFF"/>
              </a:highlight>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Analysis</a:t>
            </a:r>
            <a:endParaRPr b="1"/>
          </a:p>
        </p:txBody>
      </p:sp>
      <p:sp>
        <p:nvSpPr>
          <p:cNvPr id="256" name="Google Shape;256;p49"/>
          <p:cNvSpPr txBox="1">
            <a:spLocks noGrp="1"/>
          </p:cNvSpPr>
          <p:nvPr>
            <p:ph type="body" idx="4294967295"/>
          </p:nvPr>
        </p:nvSpPr>
        <p:spPr>
          <a:xfrm>
            <a:off x="457200" y="1200150"/>
            <a:ext cx="8229600" cy="37500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So a heatmap of gradients in the shape of image as follows, provides a great way of analysing anomalies -</a:t>
            </a:r>
            <a:endParaRPr sz="1800">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r>
              <a:rPr lang="en" sz="1800">
                <a:highlight>
                  <a:srgbClr val="FFFFFF"/>
                </a:highlight>
                <a:latin typeface="Helvetica Neue"/>
                <a:ea typeface="Helvetica Neue"/>
                <a:cs typeface="Helvetica Neue"/>
                <a:sym typeface="Helvetica Neue"/>
              </a:rPr>
              <a:t>(Here ground truth is known, useful for comparing with the heatmap)</a:t>
            </a:r>
            <a:endParaRPr sz="1800">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endParaRPr sz="1800">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000">
              <a:solidFill>
                <a:srgbClr val="0000FF"/>
              </a:solidFill>
            </a:endParaRPr>
          </a:p>
        </p:txBody>
      </p:sp>
      <p:pic>
        <p:nvPicPr>
          <p:cNvPr id="257" name="Google Shape;257;p49" title="anomaly_heatmap.png"/>
          <p:cNvPicPr preferRelativeResize="0"/>
          <p:nvPr/>
        </p:nvPicPr>
        <p:blipFill>
          <a:blip r:embed="rId3">
            <a:alphaModFix/>
          </a:blip>
          <a:stretch>
            <a:fillRect/>
          </a:stretch>
        </p:blipFill>
        <p:spPr>
          <a:xfrm>
            <a:off x="457200" y="2435375"/>
            <a:ext cx="7977401" cy="2334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50"/>
          <p:cNvSpPr txBox="1">
            <a:spLocks noGrp="1"/>
          </p:cNvSpPr>
          <p:nvPr>
            <p:ph type="title"/>
          </p:nvPr>
        </p:nvSpPr>
        <p:spPr>
          <a:xfrm>
            <a:off x="457200" y="128753"/>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Learnings</a:t>
            </a:r>
            <a:endParaRPr b="1"/>
          </a:p>
        </p:txBody>
      </p:sp>
      <p:sp>
        <p:nvSpPr>
          <p:cNvPr id="263" name="Google Shape;263;p50"/>
          <p:cNvSpPr txBox="1">
            <a:spLocks noGrp="1"/>
          </p:cNvSpPr>
          <p:nvPr>
            <p:ph type="body" idx="1"/>
          </p:nvPr>
        </p:nvSpPr>
        <p:spPr>
          <a:xfrm>
            <a:off x="457200" y="1045675"/>
            <a:ext cx="8229600" cy="3878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 sz="2700" b="1" u="sng">
                <a:solidFill>
                  <a:srgbClr val="333333"/>
                </a:solidFill>
                <a:latin typeface="Helvetica Neue"/>
                <a:ea typeface="Helvetica Neue"/>
                <a:cs typeface="Helvetica Neue"/>
                <a:sym typeface="Helvetica Neue"/>
              </a:rPr>
              <a:t>SUMMARY:</a:t>
            </a:r>
            <a:endParaRPr sz="1700">
              <a:latin typeface="Helvetica Neue"/>
              <a:ea typeface="Helvetica Neue"/>
              <a:cs typeface="Helvetica Neue"/>
              <a:sym typeface="Helvetica Neue"/>
            </a:endParaRPr>
          </a:p>
          <a:p>
            <a:pPr marL="457200" lvl="0" indent="-336550" algn="l" rtl="0">
              <a:lnSpc>
                <a:spcPct val="115000"/>
              </a:lnSpc>
              <a:spcBef>
                <a:spcPts val="1000"/>
              </a:spcBef>
              <a:spcAft>
                <a:spcPts val="0"/>
              </a:spcAft>
              <a:buSzPts val="1700"/>
              <a:buFont typeface="Helvetica Neue"/>
              <a:buChar char="•"/>
            </a:pPr>
            <a:r>
              <a:rPr lang="en" sz="1700">
                <a:latin typeface="Helvetica Neue"/>
                <a:ea typeface="Helvetica Neue"/>
                <a:cs typeface="Helvetica Neue"/>
                <a:sym typeface="Helvetica Neue"/>
              </a:rPr>
              <a:t>For anomaly detection, we learnt about the Deviation network model- comprising of a neural network with a new loss function called </a:t>
            </a:r>
            <a:r>
              <a:rPr lang="en" sz="1700" b="1">
                <a:latin typeface="Helvetica Neue"/>
                <a:ea typeface="Helvetica Neue"/>
                <a:cs typeface="Helvetica Neue"/>
                <a:sym typeface="Helvetica Neue"/>
              </a:rPr>
              <a:t>Deviation Loss, </a:t>
            </a:r>
            <a:r>
              <a:rPr lang="en" sz="1700">
                <a:latin typeface="Helvetica Neue"/>
                <a:ea typeface="Helvetica Neue"/>
                <a:cs typeface="Helvetica Neue"/>
                <a:sym typeface="Helvetica Neue"/>
              </a:rPr>
              <a:t>which aims to significantly differentiate the anomalies.</a:t>
            </a:r>
            <a:endParaRPr sz="1700">
              <a:latin typeface="Helvetica Neue"/>
              <a:ea typeface="Helvetica Neue"/>
              <a:cs typeface="Helvetica Neue"/>
              <a:sym typeface="Helvetica Neue"/>
            </a:endParaRPr>
          </a:p>
          <a:p>
            <a:pPr marL="457200" lvl="0" indent="-336550" algn="l" rtl="0">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DevNet outperformed many of the current anomaly detection models, with the ability to capture the anomalies even when the labelled data is a lot less in size.</a:t>
            </a:r>
            <a:endParaRPr sz="1700">
              <a:latin typeface="Helvetica Neue"/>
              <a:ea typeface="Helvetica Neue"/>
              <a:cs typeface="Helvetica Neue"/>
              <a:sym typeface="Helvetica Neue"/>
            </a:endParaRPr>
          </a:p>
          <a:p>
            <a:pPr marL="457200" lvl="0" indent="-336550" algn="l" rtl="0">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The output of DevNet, Anomaly Score, is very intuitive and interpretable.</a:t>
            </a:r>
            <a:endParaRPr sz="1700">
              <a:latin typeface="Helvetica Neue"/>
              <a:ea typeface="Helvetica Neue"/>
              <a:cs typeface="Helvetica Neue"/>
              <a:sym typeface="Helvetica Neue"/>
            </a:endParaRPr>
          </a:p>
          <a:p>
            <a:pPr marL="457200" lvl="0" indent="-336550" algn="l" rtl="0">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We made improvements to DevNet, especially by introducing a variational encoder decoder to improve the feature representation.</a:t>
            </a:r>
            <a:endParaRPr sz="1700">
              <a:latin typeface="Helvetica Neue"/>
              <a:ea typeface="Helvetica Neue"/>
              <a:cs typeface="Helvetica Neue"/>
              <a:sym typeface="Helvetica Neue"/>
            </a:endParaRPr>
          </a:p>
          <a:p>
            <a:pPr marL="457200" lvl="0" indent="-336550" algn="l" rtl="0">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For image datasets, DevNet enable visualising the source of anomalies in the image.</a:t>
            </a:r>
            <a:endParaRPr sz="1700">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51"/>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Learnings</a:t>
            </a:r>
            <a:endParaRPr b="1"/>
          </a:p>
        </p:txBody>
      </p:sp>
      <p:sp>
        <p:nvSpPr>
          <p:cNvPr id="269" name="Google Shape;269;p51"/>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 sz="2600" b="1" u="sng">
                <a:solidFill>
                  <a:schemeClr val="dk1"/>
                </a:solidFill>
                <a:highlight>
                  <a:srgbClr val="FFFFFF"/>
                </a:highlight>
                <a:latin typeface="Helvetica Neue"/>
                <a:ea typeface="Helvetica Neue"/>
                <a:cs typeface="Helvetica Neue"/>
                <a:sym typeface="Helvetica Neue"/>
              </a:rPr>
              <a:t>KEY TAKEAWAYS:</a:t>
            </a:r>
            <a:endParaRPr sz="2600" b="1" u="sng">
              <a:solidFill>
                <a:schemeClr val="dk1"/>
              </a:solidFill>
              <a:highlight>
                <a:srgbClr val="FFFFFF"/>
              </a:highlight>
              <a:latin typeface="Helvetica Neue"/>
              <a:ea typeface="Helvetica Neue"/>
              <a:cs typeface="Helvetica Neue"/>
              <a:sym typeface="Helvetica Neue"/>
            </a:endParaRPr>
          </a:p>
          <a:p>
            <a:pPr marL="457200" lvl="0" indent="-342900" algn="l" rtl="0">
              <a:lnSpc>
                <a:spcPct val="115000"/>
              </a:lnSpc>
              <a:spcBef>
                <a:spcPts val="1000"/>
              </a:spcBef>
              <a:spcAft>
                <a:spcPts val="0"/>
              </a:spcAft>
              <a:buClr>
                <a:schemeClr val="dk1"/>
              </a:buClr>
              <a:buSzPts val="1800"/>
              <a:buFont typeface="Helvetica Neue"/>
              <a:buChar char="•"/>
            </a:pPr>
            <a:r>
              <a:rPr lang="en" sz="1800">
                <a:latin typeface="Helvetica Neue"/>
                <a:ea typeface="Helvetica Neue"/>
                <a:cs typeface="Helvetica Neue"/>
                <a:sym typeface="Helvetica Neue"/>
              </a:rPr>
              <a:t>The idea of how we can design suitable loss functions to achieve a predictive-model’s objective specifically, and how powerful a carefully designed loss function can be.</a:t>
            </a:r>
            <a:endParaRPr sz="1800">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Effective Few-shot learning for largely unlabeled anomalous data</a:t>
            </a:r>
            <a:endParaRPr sz="1800">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An intuitive anomaly-analysis technique for image datasets</a:t>
            </a:r>
            <a:endParaRPr sz="1800">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52"/>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Learnings</a:t>
            </a:r>
            <a:endParaRPr b="1"/>
          </a:p>
        </p:txBody>
      </p:sp>
      <p:sp>
        <p:nvSpPr>
          <p:cNvPr id="275" name="Google Shape;275;p52"/>
          <p:cNvSpPr txBox="1">
            <a:spLocks noGrp="1"/>
          </p:cNvSpPr>
          <p:nvPr>
            <p:ph type="body" idx="1"/>
          </p:nvPr>
        </p:nvSpPr>
        <p:spPr>
          <a:xfrm>
            <a:off x="457200" y="1200150"/>
            <a:ext cx="8229600" cy="3621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 sz="2600" b="1" u="sng">
                <a:solidFill>
                  <a:schemeClr val="dk1"/>
                </a:solidFill>
                <a:highlight>
                  <a:srgbClr val="FFFFFF"/>
                </a:highlight>
                <a:latin typeface="Helvetica Neue"/>
                <a:ea typeface="Helvetica Neue"/>
                <a:cs typeface="Helvetica Neue"/>
                <a:sym typeface="Helvetica Neue"/>
              </a:rPr>
              <a:t>Learning Outcomes:</a:t>
            </a:r>
            <a:endParaRPr sz="2600" b="1" u="sng">
              <a:solidFill>
                <a:schemeClr val="dk1"/>
              </a:solidFill>
              <a:highlight>
                <a:srgbClr val="FFFFFF"/>
              </a:highlight>
              <a:latin typeface="Helvetica Neue"/>
              <a:ea typeface="Helvetica Neue"/>
              <a:cs typeface="Helvetica Neue"/>
              <a:sym typeface="Helvetica Neue"/>
            </a:endParaRPr>
          </a:p>
          <a:p>
            <a:pPr marL="457200" lvl="0" indent="-342900" algn="l" rtl="0">
              <a:lnSpc>
                <a:spcPct val="115000"/>
              </a:lnSpc>
              <a:spcBef>
                <a:spcPts val="1000"/>
              </a:spcBef>
              <a:spcAft>
                <a:spcPts val="0"/>
              </a:spcAft>
              <a:buSzPts val="1800"/>
              <a:buFont typeface="Helvetica Neue"/>
              <a:buChar char="•"/>
            </a:pPr>
            <a:r>
              <a:rPr lang="en" sz="1800">
                <a:latin typeface="Helvetica Neue"/>
                <a:ea typeface="Helvetica Neue"/>
                <a:cs typeface="Helvetica Neue"/>
                <a:sym typeface="Helvetica Neue"/>
              </a:rPr>
              <a:t>Few shot learning, by utilising the gaussian property of anomalous data</a:t>
            </a:r>
            <a:endParaRPr sz="1800">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We got a hands-on experience of using the various tools and libraries of Python (like PyTorch, Tensorflow, etc. )</a:t>
            </a:r>
            <a:endParaRPr sz="1800">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We learnt how teamwork helps us to find new ideas and refine them, using our varying perspective. Also it helped a lot to work on the project in a modularised manner, increasing efficiency and productivity.</a:t>
            </a:r>
            <a:endParaRPr sz="1800">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Experimenting and researching over various possibilities often yields very useful insights, like we were able to improve on the research paper using our experimentation on the model design.</a:t>
            </a:r>
            <a:endParaRPr sz="1800">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Error analysis</a:t>
            </a:r>
            <a:endParaRPr b="1"/>
          </a:p>
        </p:txBody>
      </p:sp>
      <p:sp>
        <p:nvSpPr>
          <p:cNvPr id="281" name="Google Shape;281;p53"/>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p>
            <a:pPr marL="457200" lvl="0" indent="-393700" algn="l" rtl="0">
              <a:lnSpc>
                <a:spcPct val="115000"/>
              </a:lnSpc>
              <a:spcBef>
                <a:spcPts val="1000"/>
              </a:spcBef>
              <a:spcAft>
                <a:spcPts val="0"/>
              </a:spcAft>
              <a:buClr>
                <a:srgbClr val="0000FF"/>
              </a:buClr>
              <a:buSzPts val="2600"/>
              <a:buFont typeface="Helvetica Neue"/>
              <a:buChar char="•"/>
            </a:pPr>
            <a:r>
              <a:rPr lang="en" sz="2600">
                <a:highlight>
                  <a:srgbClr val="FFFFFF"/>
                </a:highlight>
                <a:latin typeface="Helvetica Neue"/>
                <a:ea typeface="Helvetica Neue"/>
                <a:cs typeface="Helvetica Neue"/>
                <a:sym typeface="Helvetica Neue"/>
              </a:rPr>
              <a:t>Undersampling Of Normal Data:</a:t>
            </a:r>
            <a:endParaRPr sz="2600">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800">
                <a:highlight>
                  <a:srgbClr val="FFFFFF"/>
                </a:highlight>
                <a:latin typeface="Helvetica Neue"/>
                <a:ea typeface="Helvetica Neue"/>
                <a:cs typeface="Helvetica Neue"/>
                <a:sym typeface="Helvetica Neue"/>
              </a:rPr>
              <a:t>The idea was that if clustered undersampling was implemented, we may be able to somehow decrease the heavy imbalance faced by anomalies while not losing significant information. However what we are generating is a distribution of normal points and points appearing on areas with very low probability of normal data are marked anomalous. So if we delete some points from a heavily dense area of normal points it will make the general distribution more spread out which causes some anomalies to reach the probability threshold to be called normal.</a:t>
            </a:r>
            <a:endParaRPr sz="1800">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800">
              <a:solidFill>
                <a:srgbClr val="00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4"/>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Error analysis</a:t>
            </a:r>
            <a:endParaRPr b="1"/>
          </a:p>
        </p:txBody>
      </p:sp>
      <p:sp>
        <p:nvSpPr>
          <p:cNvPr id="287" name="Google Shape;287;p54"/>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93700" algn="l" rtl="0">
              <a:lnSpc>
                <a:spcPct val="115000"/>
              </a:lnSpc>
              <a:spcBef>
                <a:spcPts val="1000"/>
              </a:spcBef>
              <a:spcAft>
                <a:spcPts val="0"/>
              </a:spcAft>
              <a:buClr>
                <a:srgbClr val="0000FF"/>
              </a:buClr>
              <a:buSzPts val="2600"/>
              <a:buFont typeface="Helvetica Neue"/>
              <a:buChar char="•"/>
            </a:pPr>
            <a:r>
              <a:rPr lang="en" sz="2600">
                <a:highlight>
                  <a:srgbClr val="FFFFFF"/>
                </a:highlight>
                <a:latin typeface="Helvetica Neue"/>
                <a:ea typeface="Helvetica Neue"/>
                <a:cs typeface="Helvetica Neue"/>
                <a:sym typeface="Helvetica Neue"/>
              </a:rPr>
              <a:t>Oversampling Of Anomalous Data:</a:t>
            </a:r>
            <a:endParaRPr sz="2600">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1000"/>
              </a:spcAft>
              <a:buNone/>
            </a:pPr>
            <a:r>
              <a:rPr lang="en" sz="1800">
                <a:highlight>
                  <a:srgbClr val="FFFFFF"/>
                </a:highlight>
                <a:latin typeface="Helvetica Neue"/>
                <a:ea typeface="Helvetica Neue"/>
                <a:cs typeface="Helvetica Neue"/>
                <a:sym typeface="Helvetica Neue"/>
              </a:rPr>
              <a:t>Oversampling data requires original data points to be a part of some cluster but if the points are diverse(multiple distinct anomalies caused by different conditions) then oversampling using SMOTE or ADASYN gives new data which might be normal but we marked anomalous and thus ruin the performance of our model.</a:t>
            </a:r>
            <a:endParaRPr sz="1800">
              <a:highlight>
                <a:srgbClr val="FFFFFF"/>
              </a:highlight>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457200" algn="l" rtl="0">
              <a:lnSpc>
                <a:spcPct val="100000"/>
              </a:lnSpc>
              <a:spcBef>
                <a:spcPts val="0"/>
              </a:spcBef>
              <a:spcAft>
                <a:spcPts val="0"/>
              </a:spcAft>
              <a:buSzPts val="1400"/>
              <a:buNone/>
            </a:pPr>
            <a:r>
              <a:rPr lang="en" b="1"/>
              <a:t>Improvements over the paper</a:t>
            </a:r>
            <a:endParaRPr b="1"/>
          </a:p>
        </p:txBody>
      </p:sp>
      <p:sp>
        <p:nvSpPr>
          <p:cNvPr id="293" name="Google Shape;293;p55"/>
          <p:cNvSpPr txBox="1">
            <a:spLocks noGrp="1"/>
          </p:cNvSpPr>
          <p:nvPr>
            <p:ph type="body" idx="4294967295"/>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55600" algn="l" rtl="0">
              <a:lnSpc>
                <a:spcPct val="115000"/>
              </a:lnSpc>
              <a:spcBef>
                <a:spcPts val="1000"/>
              </a:spcBef>
              <a:spcAft>
                <a:spcPts val="0"/>
              </a:spcAft>
              <a:buClr>
                <a:srgbClr val="0000FF"/>
              </a:buClr>
              <a:buSzPts val="2000"/>
              <a:buFont typeface="Helvetica Neue"/>
              <a:buChar char="●"/>
            </a:pPr>
            <a:r>
              <a:rPr lang="en" sz="2000">
                <a:solidFill>
                  <a:srgbClr val="0000FF"/>
                </a:solidFill>
                <a:highlight>
                  <a:srgbClr val="FFFFFF"/>
                </a:highlight>
                <a:latin typeface="Helvetica Neue"/>
                <a:ea typeface="Helvetica Neue"/>
                <a:cs typeface="Helvetica Neue"/>
                <a:sym typeface="Helvetica Neue"/>
              </a:rPr>
              <a:t>What did </a:t>
            </a:r>
            <a:r>
              <a:rPr lang="en" sz="2000" i="1">
                <a:solidFill>
                  <a:srgbClr val="0000FF"/>
                </a:solidFill>
                <a:highlight>
                  <a:srgbClr val="FFFFFF"/>
                </a:highlight>
                <a:latin typeface="Helvetica Neue"/>
                <a:ea typeface="Helvetica Neue"/>
                <a:cs typeface="Helvetica Neue"/>
                <a:sym typeface="Helvetica Neue"/>
              </a:rPr>
              <a:t>you</a:t>
            </a:r>
            <a:r>
              <a:rPr lang="en" sz="2000">
                <a:solidFill>
                  <a:srgbClr val="0000FF"/>
                </a:solidFill>
                <a:highlight>
                  <a:srgbClr val="FFFFFF"/>
                </a:highlight>
                <a:latin typeface="Helvetica Neue"/>
                <a:ea typeface="Helvetica Neue"/>
                <a:cs typeface="Helvetica Neue"/>
                <a:sym typeface="Helvetica Neue"/>
              </a:rPr>
              <a:t> contribute that’s new?</a:t>
            </a:r>
            <a:endParaRPr sz="2000">
              <a:solidFill>
                <a:srgbClr val="0000FF"/>
              </a:solidFill>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r>
              <a:rPr lang="en" sz="2000">
                <a:highlight>
                  <a:srgbClr val="FFFFFF"/>
                </a:highlight>
                <a:latin typeface="Helvetica Neue"/>
                <a:ea typeface="Helvetica Neue"/>
                <a:cs typeface="Helvetica Neue"/>
                <a:sym typeface="Helvetica Neue"/>
              </a:rPr>
              <a:t>Firstly we improved the score for DevNet itself as compared to the paper especially for thyroid dataset which reached AUPR of 0.92 from 0.27 !! Further the implementation of VDevNet was also done completely by us, using just the theory available online. Focal Loss was also our addition to the paper code to improve performance in subtle data(anomalies and normal data very close).</a:t>
            </a:r>
            <a:endParaRPr sz="2000">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200">
              <a:solidFill>
                <a:srgbClr val="0000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457200" algn="l" rtl="0">
              <a:lnSpc>
                <a:spcPct val="100000"/>
              </a:lnSpc>
              <a:spcBef>
                <a:spcPts val="0"/>
              </a:spcBef>
              <a:spcAft>
                <a:spcPts val="0"/>
              </a:spcAft>
              <a:buSzPts val="1400"/>
              <a:buNone/>
            </a:pPr>
            <a:r>
              <a:rPr lang="en" b="1"/>
              <a:t>Improvements over the paper</a:t>
            </a:r>
            <a:endParaRPr b="1"/>
          </a:p>
        </p:txBody>
      </p:sp>
      <p:sp>
        <p:nvSpPr>
          <p:cNvPr id="299" name="Google Shape;299;p56"/>
          <p:cNvSpPr txBox="1">
            <a:spLocks noGrp="1"/>
          </p:cNvSpPr>
          <p:nvPr>
            <p:ph type="body" idx="4294967295"/>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55600" algn="l" rtl="0">
              <a:lnSpc>
                <a:spcPct val="115000"/>
              </a:lnSpc>
              <a:spcBef>
                <a:spcPts val="1000"/>
              </a:spcBef>
              <a:spcAft>
                <a:spcPts val="0"/>
              </a:spcAft>
              <a:buClr>
                <a:srgbClr val="0000FF"/>
              </a:buClr>
              <a:buSzPts val="2000"/>
              <a:buFont typeface="Helvetica Neue"/>
              <a:buChar char="●"/>
            </a:pPr>
            <a:r>
              <a:rPr lang="en" sz="2000">
                <a:solidFill>
                  <a:srgbClr val="0000FF"/>
                </a:solidFill>
                <a:highlight>
                  <a:srgbClr val="FFFFFF"/>
                </a:highlight>
                <a:latin typeface="Helvetica Neue"/>
                <a:ea typeface="Helvetica Neue"/>
                <a:cs typeface="Helvetica Neue"/>
                <a:sym typeface="Helvetica Neue"/>
              </a:rPr>
              <a:t>How did you enhance or extend the original work?</a:t>
            </a:r>
            <a:endParaRPr sz="2000">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1000"/>
              </a:spcAft>
              <a:buNone/>
            </a:pPr>
            <a:r>
              <a:rPr lang="en" sz="2000">
                <a:highlight>
                  <a:srgbClr val="FFFFFF"/>
                </a:highlight>
                <a:latin typeface="Helvetica Neue"/>
                <a:ea typeface="Helvetica Neue"/>
                <a:cs typeface="Helvetica Neue"/>
                <a:sym typeface="Helvetica Neue"/>
              </a:rPr>
              <a:t>Implementation of new loss functions like Focal Loss was also a novel idea implemented by our codes. DevNet alone was basically a neural network with loss defined such that anomalous data got rewarded for being outside the margin and normal data was rewarded for being near the mean which is a novel idea, yet combining with Autoencoders was a specially unique idea that gave phenomenal results over all datasets and beat all other algorithms by a wide margin.</a:t>
            </a:r>
            <a:endParaRPr sz="2000">
              <a:highlight>
                <a:srgbClr val="FFFFFF"/>
              </a:highlight>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7"/>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Demo</a:t>
            </a:r>
            <a:endParaRPr b="1"/>
          </a:p>
        </p:txBody>
      </p:sp>
      <p:sp>
        <p:nvSpPr>
          <p:cNvPr id="305" name="Google Shape;305;p57"/>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61950" algn="l" rtl="0">
              <a:spcBef>
                <a:spcPts val="0"/>
              </a:spcBef>
              <a:spcAft>
                <a:spcPts val="0"/>
              </a:spcAft>
              <a:buClr>
                <a:srgbClr val="0000FF"/>
              </a:buClr>
              <a:buSzPts val="2100"/>
              <a:buChar char="•"/>
            </a:pPr>
            <a:r>
              <a:rPr lang="en" sz="2100"/>
              <a:t>For demo, we have made a browser interface using </a:t>
            </a:r>
            <a:r>
              <a:rPr lang="en" sz="2100" b="1"/>
              <a:t>Streamlit</a:t>
            </a:r>
            <a:endParaRPr sz="2100" b="1"/>
          </a:p>
          <a:p>
            <a:pPr marL="457200" lvl="0" indent="-361950" algn="l" rtl="0">
              <a:spcBef>
                <a:spcPts val="0"/>
              </a:spcBef>
              <a:spcAft>
                <a:spcPts val="0"/>
              </a:spcAft>
              <a:buSzPts val="2100"/>
              <a:buChar char="•"/>
            </a:pPr>
            <a:r>
              <a:rPr lang="en" sz="2100"/>
              <a:t>To keep it intuitive and for better visualisation, we have incorporated the feature of detecting and plotting the parts of image with their chances of being anomalous using a heatmap, same as the size of image (shown in analysis before).</a:t>
            </a:r>
            <a:endParaRPr sz="2100"/>
          </a:p>
          <a:p>
            <a:pPr marL="457200" lvl="0" indent="-361950" algn="l" rtl="0">
              <a:spcBef>
                <a:spcPts val="0"/>
              </a:spcBef>
              <a:spcAft>
                <a:spcPts val="0"/>
              </a:spcAft>
              <a:buSzPts val="2100"/>
              <a:buChar char="•"/>
            </a:pPr>
            <a:r>
              <a:rPr lang="en" sz="2100"/>
              <a:t>A trained model has to be uploaded and then on uploading any image of the suitable dataset, you can see its anomaly score, the anomaly heatmap, with changeable parameters like image size for resolution, etc.</a:t>
            </a:r>
            <a:endParaRPr sz="2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Summary and Conclusion</a:t>
            </a:r>
            <a:endParaRPr b="1"/>
          </a:p>
        </p:txBody>
      </p:sp>
      <p:sp>
        <p:nvSpPr>
          <p:cNvPr id="311" name="Google Shape;311;p58"/>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Creating an ML algorithm which can, with high precision and recall label a partially labelled heavily imbalanced dataset is the main aim of the problem.</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This is a vast field and a vague problem statement (since datasets maybe diverse or subtle, may have many dimensions or just a few). Thus some algorithms will definitely perform better than others in certain cases, but we aim to find a general algorithm that can do nearly as good or better than every algorithm. </a:t>
            </a:r>
            <a:endParaRPr sz="1800">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There is a lot of scope for further work in this field especially creating lightweight and faster versions which can be deployed for use in various fields like cryptography and medicine.</a:t>
            </a:r>
            <a:endParaRPr sz="1800">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700">
              <a:solidFill>
                <a:srgbClr val="0000FF"/>
              </a:solidFil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35</Slides>
  <Notes>35</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Default Design</vt:lpstr>
      <vt:lpstr>DDeepeeutDeeoencoder</vt:lpstr>
      <vt:lpstr>Problem Statement</vt:lpstr>
      <vt:lpstr>Goal Of Models</vt:lpstr>
      <vt:lpstr>Aim of Anomaly Detection</vt:lpstr>
      <vt:lpstr>Motivation</vt:lpstr>
      <vt:lpstr>Motivation</vt:lpstr>
      <vt:lpstr>Motivation</vt:lpstr>
      <vt:lpstr>Literature Review</vt:lpstr>
      <vt:lpstr>Dataset</vt:lpstr>
      <vt:lpstr>Isolation Forest Baseline</vt:lpstr>
      <vt:lpstr>DevNet 1/4 </vt:lpstr>
      <vt:lpstr>DevNet 2/4</vt:lpstr>
      <vt:lpstr>DevNet 3/4</vt:lpstr>
      <vt:lpstr>DevNet 4/4</vt:lpstr>
      <vt:lpstr>DevNet Results</vt:lpstr>
      <vt:lpstr>Idea 1: Focal Loss DevNet 1/1</vt:lpstr>
      <vt:lpstr>Focal Results</vt:lpstr>
      <vt:lpstr>Idea 2: Variational DevNet 1/3</vt:lpstr>
      <vt:lpstr>Idea 2: Variational DevNet 2/3</vt:lpstr>
      <vt:lpstr>Idea 2: Variational DevNet 3/3</vt:lpstr>
      <vt:lpstr>Variational DevNet Results</vt:lpstr>
      <vt:lpstr>Results</vt:lpstr>
      <vt:lpstr>Analysis</vt:lpstr>
      <vt:lpstr>Analysis</vt:lpstr>
      <vt:lpstr>Analysis</vt:lpstr>
      <vt:lpstr>Analysis</vt:lpstr>
      <vt:lpstr>Learnings</vt:lpstr>
      <vt:lpstr>Learnings</vt:lpstr>
      <vt:lpstr>Learnings</vt:lpstr>
      <vt:lpstr>Error analysis</vt:lpstr>
      <vt:lpstr>Error analysis</vt:lpstr>
      <vt:lpstr>Improvements over the paper</vt:lpstr>
      <vt:lpstr>Improvements over the paper</vt:lpstr>
      <vt:lpstr>Demo</vt:lpstr>
      <vt:lpstr>Summary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50</cp:revision>
  <dcterms:modified xsi:type="dcterms:W3CDTF">2026-01-30T19:16:07Z</dcterms:modified>
</cp:coreProperties>
</file>